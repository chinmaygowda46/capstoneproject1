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9"/>
  </p:notesMasterIdLst>
  <p:sldIdLst>
    <p:sldId id="286" r:id="rId2"/>
    <p:sldId id="257" r:id="rId3"/>
    <p:sldId id="273" r:id="rId4"/>
    <p:sldId id="268" r:id="rId5"/>
    <p:sldId id="274" r:id="rId6"/>
    <p:sldId id="275" r:id="rId7"/>
    <p:sldId id="276" r:id="rId8"/>
    <p:sldId id="277" r:id="rId9"/>
    <p:sldId id="280" r:id="rId10"/>
    <p:sldId id="287" r:id="rId11"/>
    <p:sldId id="279" r:id="rId12"/>
    <p:sldId id="281" r:id="rId13"/>
    <p:sldId id="282" r:id="rId14"/>
    <p:sldId id="283" r:id="rId15"/>
    <p:sldId id="284" r:id="rId16"/>
    <p:sldId id="285" r:id="rId17"/>
    <p:sldId id="26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t>Student Dropout Analysis For School Education</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 </a:t>
            </a:r>
            <a:r>
              <a:rPr lang="en-GB" sz="1800" b="0" dirty="0">
                <a:latin typeface="Cambria" panose="02040503050406030204" pitchFamily="18" charset="0"/>
                <a:ea typeface="Cambria" panose="02040503050406030204" pitchFamily="18" charset="0"/>
              </a:rPr>
              <a:t>CSE_204</a:t>
            </a:r>
            <a:endParaRPr sz="1800" b="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Dr./Mr./Ms./Prof.</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nvGraphicFramePr>
        <p:xfrm>
          <a:off x="553347" y="2721840"/>
          <a:ext cx="5418675" cy="274326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002060"/>
                          </a:solidFill>
                        </a:rPr>
                        <a:t>Roll Number</a:t>
                      </a:r>
                    </a:p>
                    <a:p>
                      <a:pPr marL="0" marR="0" lvl="1" indent="0" algn="ctr" rtl="0">
                        <a:spcBef>
                          <a:spcPts val="0"/>
                        </a:spcBef>
                        <a:spcAft>
                          <a:spcPts val="0"/>
                        </a:spcAft>
                        <a:buNone/>
                      </a:pPr>
                      <a:endParaRPr lang="en-GB" sz="1800" b="1" u="none" strike="noStrike" cap="none" dirty="0">
                        <a:solidFill>
                          <a:srgbClr val="002060"/>
                        </a:solidFill>
                      </a:endParaRPr>
                    </a:p>
                    <a:p>
                      <a:pPr marL="0" marR="0" lvl="1" indent="0" algn="ctr" rtl="0">
                        <a:spcBef>
                          <a:spcPts val="0"/>
                        </a:spcBef>
                        <a:spcAft>
                          <a:spcPts val="0"/>
                        </a:spcAft>
                        <a:buNone/>
                      </a:pPr>
                      <a:r>
                        <a:rPr lang="en-GB" sz="1800" b="0" u="none" strike="noStrike" cap="none" dirty="0">
                          <a:solidFill>
                            <a:schemeClr val="tx1">
                              <a:lumMod val="95000"/>
                              <a:lumOff val="5000"/>
                            </a:schemeClr>
                          </a:solidFill>
                        </a:rPr>
                        <a:t>20221CSE0001</a:t>
                      </a:r>
                      <a:endParaRPr sz="1800" b="0" u="none" strike="noStrike" cap="none" dirty="0">
                        <a:solidFill>
                          <a:schemeClr val="tx1">
                            <a:lumMod val="95000"/>
                            <a:lumOff val="5000"/>
                          </a:schemeClr>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a:solidFill>
                            <a:srgbClr val="002060"/>
                          </a:solidFill>
                        </a:rPr>
                        <a:t>Student Name</a:t>
                      </a:r>
                    </a:p>
                    <a:p>
                      <a:pPr marL="0" marR="0" lvl="0" indent="0" algn="ctr" rtl="0">
                        <a:spcBef>
                          <a:spcPts val="0"/>
                        </a:spcBef>
                        <a:spcAft>
                          <a:spcPts val="0"/>
                        </a:spcAft>
                        <a:buNone/>
                      </a:pPr>
                      <a:endParaRPr lang="en-GB" sz="1800" b="1" u="none" strike="noStrike" cap="none">
                        <a:solidFill>
                          <a:srgbClr val="002060"/>
                        </a:solidFill>
                      </a:endParaRPr>
                    </a:p>
                    <a:p>
                      <a:pPr marL="0" marR="0" lvl="0" indent="0" algn="ctr" rtl="0">
                        <a:spcBef>
                          <a:spcPts val="0"/>
                        </a:spcBef>
                        <a:spcAft>
                          <a:spcPts val="0"/>
                        </a:spcAft>
                        <a:buNone/>
                      </a:pPr>
                      <a:r>
                        <a:rPr lang="en-GB" sz="1800" b="0" u="none" strike="noStrike" cap="none">
                          <a:solidFill>
                            <a:schemeClr val="tx1">
                              <a:lumMod val="95000"/>
                              <a:lumOff val="5000"/>
                            </a:schemeClr>
                          </a:solidFill>
                        </a:rPr>
                        <a:t>K.N CHINMAY GOWDA</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b="0" u="none" strike="noStrike" cap="none" dirty="0">
                          <a:solidFill>
                            <a:schemeClr val="tx1">
                              <a:lumMod val="95000"/>
                              <a:lumOff val="5000"/>
                            </a:schemeClr>
                          </a:solidFill>
                        </a:rPr>
                        <a:t>20221CSE0003</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0" u="none" strike="noStrike" cap="none">
                          <a:solidFill>
                            <a:schemeClr val="tx1">
                              <a:lumMod val="95000"/>
                              <a:lumOff val="5000"/>
                            </a:schemeClr>
                          </a:solidFill>
                        </a:rPr>
                        <a:t>PRAJWAL.M.S</a:t>
                      </a:r>
                      <a:endParaRPr sz="1800" b="0" u="none" strike="noStrike" cap="none" dirty="0">
                        <a:solidFill>
                          <a:schemeClr val="tx1">
                            <a:lumMod val="95000"/>
                            <a:lumOff val="5000"/>
                          </a:schemeClr>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b="0" u="none" strike="noStrike" cap="none" dirty="0">
                          <a:solidFill>
                            <a:schemeClr val="tx1">
                              <a:lumMod val="95000"/>
                              <a:lumOff val="5000"/>
                            </a:schemeClr>
                          </a:solidFill>
                        </a:rPr>
                        <a:t>20221CSE0017</a:t>
                      </a:r>
                      <a:endParaRPr sz="1800" b="0" u="none" strike="noStrike" cap="none" dirty="0">
                        <a:solidFill>
                          <a:schemeClr val="tx1">
                            <a:lumMod val="95000"/>
                            <a:lumOff val="5000"/>
                          </a:schemeClr>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0" u="none" strike="noStrike" cap="none" dirty="0">
                          <a:solidFill>
                            <a:schemeClr val="tx1">
                              <a:lumMod val="95000"/>
                              <a:lumOff val="5000"/>
                            </a:schemeClr>
                          </a:solidFill>
                        </a:rPr>
                        <a:t>JEEVAN.M.B</a:t>
                      </a:r>
                      <a:endParaRPr sz="1800" b="0" u="none" strike="noStrike" cap="none" dirty="0">
                        <a:solidFill>
                          <a:schemeClr val="tx1">
                            <a:lumMod val="95000"/>
                            <a:lumOff val="5000"/>
                          </a:schemeClr>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 </a:t>
            </a:r>
            <a:r>
              <a:rPr lang="en-US" sz="1800" b="1" i="0" u="none" strike="noStrike" cap="none"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Bachelor of Technology (</a:t>
            </a:r>
            <a:r>
              <a:rPr lang="en-US" sz="1800" b="1" i="0" u="none" strike="noStrike" cap="none" dirty="0" err="1">
                <a:solidFill>
                  <a:schemeClr val="tx1">
                    <a:lumMod val="95000"/>
                    <a:lumOff val="5000"/>
                  </a:schemeClr>
                </a:solidFill>
                <a:latin typeface="Cambria" panose="02040503050406030204" pitchFamily="18" charset="0"/>
                <a:ea typeface="Cambria" panose="02040503050406030204" pitchFamily="18" charset="0"/>
                <a:cs typeface="Verdana"/>
                <a:sym typeface="Verdana"/>
              </a:rPr>
              <a:t>B.Tech</a:t>
            </a:r>
            <a:r>
              <a:rPr lang="en-US" sz="1800" b="1" i="0" u="none" strike="noStrike" cap="none"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18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1800" b="1" dirty="0">
                <a:solidFill>
                  <a:schemeClr val="accent1"/>
                </a:solidFill>
                <a:latin typeface="Cambria" panose="02040503050406030204" pitchFamily="18" charset="0"/>
                <a:ea typeface="Cambria" panose="02040503050406030204" pitchFamily="18" charset="0"/>
                <a:cs typeface="Verdana"/>
                <a:sym typeface="Verdana"/>
              </a:rPr>
              <a:t> : </a:t>
            </a:r>
            <a:r>
              <a:rPr lang="en-IN" sz="1800" b="1"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Dr. Asif Mohammed , Dr. Blessed Prince</a:t>
            </a:r>
            <a:endParaRPr lang="en-US" sz="1800" b="1" dirty="0">
              <a:solidFill>
                <a:schemeClr val="tx1">
                  <a:lumMod val="95000"/>
                  <a:lumOff val="5000"/>
                </a:schemeClr>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 </a:t>
            </a:r>
            <a:r>
              <a:rPr lang="en-US" sz="1800" b="1" i="0" u="none" strike="noStrike" cap="none"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lumMod val="95000"/>
                    <a:lumOff val="5000"/>
                  </a:schemeClr>
                </a:solidFill>
                <a:latin typeface="Cambria" panose="02040503050406030204" pitchFamily="18" charset="0"/>
                <a:ea typeface="Cambria" panose="02040503050406030204" pitchFamily="18" charset="0"/>
                <a:cs typeface="Verdana"/>
                <a:sym typeface="Verdana"/>
              </a:rPr>
              <a:t>Jayavadivel</a:t>
            </a:r>
            <a:r>
              <a:rPr lang="en-US" sz="1800" b="1" i="0" u="none" strike="noStrike" cap="none"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 Ravi , Mr. </a:t>
            </a:r>
            <a:r>
              <a:rPr lang="en-US" sz="1800" b="1" i="0" u="none" strike="noStrike" cap="none" dirty="0" err="1">
                <a:solidFill>
                  <a:schemeClr val="tx1">
                    <a:lumMod val="95000"/>
                    <a:lumOff val="5000"/>
                  </a:schemeClr>
                </a:solidFill>
                <a:latin typeface="Cambria" panose="02040503050406030204" pitchFamily="18" charset="0"/>
                <a:ea typeface="Cambria" panose="02040503050406030204" pitchFamily="18" charset="0"/>
                <a:cs typeface="Verdana"/>
                <a:sym typeface="Verdana"/>
              </a:rPr>
              <a:t>Muthuraju</a:t>
            </a:r>
            <a:r>
              <a:rPr lang="en-US" sz="1800" b="1" i="0" u="none" strike="noStrike" cap="none"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 V </a:t>
            </a:r>
            <a:endParaRPr lang="en-US" sz="1800" b="1" dirty="0">
              <a:solidFill>
                <a:schemeClr val="tx1">
                  <a:lumMod val="95000"/>
                  <a:lumOff val="5000"/>
                </a:schemeClr>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Arial" panose="020B0604020202020204" pitchFamily="34" charset="0"/>
              <a:buChar char="•"/>
            </a:pPr>
            <a:r>
              <a:rPr lang="en-US" sz="1400" dirty="0">
                <a:latin typeface="Cambria" panose="02040503050406030204" pitchFamily="18" charset="0"/>
                <a:ea typeface="Cambria" panose="02040503050406030204" pitchFamily="18" charset="0"/>
              </a:rPr>
              <a:t>Abstract</a:t>
            </a:r>
          </a:p>
          <a:p>
            <a:pPr marL="495300" indent="-342900" algn="just">
              <a:lnSpc>
                <a:spcPct val="200000"/>
              </a:lnSpc>
              <a:spcBef>
                <a:spcPts val="0"/>
              </a:spcBef>
              <a:buFont typeface="Arial" panose="020B0604020202020204" pitchFamily="34" charset="0"/>
              <a:buChar char="•"/>
            </a:pPr>
            <a:r>
              <a:rPr lang="en-US" sz="1400" dirty="0">
                <a:latin typeface="Cambria" panose="02040503050406030204" pitchFamily="18" charset="0"/>
                <a:ea typeface="Cambria" panose="02040503050406030204" pitchFamily="18" charset="0"/>
              </a:rPr>
              <a:t>Literature Survey</a:t>
            </a:r>
          </a:p>
          <a:p>
            <a:pPr marL="495300" indent="-342900" algn="just">
              <a:lnSpc>
                <a:spcPct val="200000"/>
              </a:lnSpc>
              <a:spcBef>
                <a:spcPts val="0"/>
              </a:spcBef>
              <a:buFont typeface="Arial" panose="020B0604020202020204" pitchFamily="34" charset="0"/>
              <a:buChar char="•"/>
            </a:pPr>
            <a:r>
              <a:rPr lang="en-US" sz="1400" dirty="0">
                <a:latin typeface="Cambria" panose="02040503050406030204" pitchFamily="18" charset="0"/>
                <a:ea typeface="Cambria" panose="02040503050406030204" pitchFamily="18" charset="0"/>
              </a:rPr>
              <a:t>Objectives</a:t>
            </a:r>
          </a:p>
          <a:p>
            <a:pPr marL="495300" lvl="0" indent="-342900" algn="just">
              <a:lnSpc>
                <a:spcPct val="200000"/>
              </a:lnSpc>
              <a:spcBef>
                <a:spcPts val="0"/>
              </a:spcBef>
              <a:buFont typeface="Arial" panose="020B0604020202020204" pitchFamily="34" charset="0"/>
              <a:buChar char="•"/>
            </a:pPr>
            <a:r>
              <a:rPr lang="en-US" sz="1400" dirty="0">
                <a:latin typeface="Cambria" panose="02040503050406030204" pitchFamily="18" charset="0"/>
                <a:ea typeface="Cambria" panose="02040503050406030204" pitchFamily="18" charset="0"/>
              </a:rPr>
              <a:t>Existing methods and drawbacks </a:t>
            </a:r>
          </a:p>
          <a:p>
            <a:pPr marL="495300" lvl="0" indent="-342900" algn="just">
              <a:lnSpc>
                <a:spcPct val="200000"/>
              </a:lnSpc>
              <a:spcBef>
                <a:spcPts val="0"/>
              </a:spcBef>
              <a:buFont typeface="Arial" panose="020B0604020202020204" pitchFamily="34" charset="0"/>
              <a:buChar char="•"/>
            </a:pPr>
            <a:r>
              <a:rPr lang="en-US" sz="1400" dirty="0">
                <a:latin typeface="Cambria" panose="02040503050406030204" pitchFamily="18" charset="0"/>
                <a:ea typeface="Cambria" panose="02040503050406030204" pitchFamily="18" charset="0"/>
              </a:rPr>
              <a:t>Proposed method and feasibility study</a:t>
            </a:r>
          </a:p>
          <a:p>
            <a:pPr marL="495300" indent="-342900" algn="just">
              <a:lnSpc>
                <a:spcPct val="200000"/>
              </a:lnSpc>
              <a:spcBef>
                <a:spcPts val="0"/>
              </a:spcBef>
              <a:buFont typeface="Arial" panose="020B0604020202020204" pitchFamily="34" charset="0"/>
              <a:buChar char="•"/>
            </a:pPr>
            <a:r>
              <a:rPr lang="en-US" sz="1400" dirty="0">
                <a:latin typeface="Cambria" panose="02040503050406030204" pitchFamily="18" charset="0"/>
                <a:ea typeface="Cambria" panose="02040503050406030204" pitchFamily="18" charset="0"/>
              </a:rPr>
              <a:t>Architecture diagram</a:t>
            </a:r>
          </a:p>
          <a:p>
            <a:pPr marL="495300" indent="-342900" algn="just">
              <a:lnSpc>
                <a:spcPct val="200000"/>
              </a:lnSpc>
              <a:spcBef>
                <a:spcPts val="0"/>
              </a:spcBef>
              <a:buFont typeface="Arial" panose="020B0604020202020204" pitchFamily="34" charset="0"/>
              <a:buChar char="•"/>
            </a:pPr>
            <a:r>
              <a:rPr lang="en-US" sz="1400" dirty="0">
                <a:latin typeface="Cambria" panose="02040503050406030204" pitchFamily="18" charset="0"/>
                <a:ea typeface="Cambria" panose="02040503050406030204" pitchFamily="18" charset="0"/>
              </a:rPr>
              <a:t>Modules</a:t>
            </a:r>
          </a:p>
          <a:p>
            <a:pPr marL="495300" indent="-342900" algn="just">
              <a:lnSpc>
                <a:spcPct val="200000"/>
              </a:lnSpc>
              <a:spcBef>
                <a:spcPts val="0"/>
              </a:spcBef>
              <a:buFont typeface="Arial" panose="020B0604020202020204" pitchFamily="34" charset="0"/>
              <a:buChar char="•"/>
            </a:pPr>
            <a:r>
              <a:rPr lang="en-US" sz="1400" dirty="0">
                <a:latin typeface="Cambria" panose="02040503050406030204" pitchFamily="18" charset="0"/>
                <a:ea typeface="Cambria" panose="02040503050406030204" pitchFamily="18" charset="0"/>
              </a:rPr>
              <a:t>Hardware and software details</a:t>
            </a:r>
          </a:p>
          <a:p>
            <a:pPr marL="495300" indent="-342900" algn="just">
              <a:lnSpc>
                <a:spcPct val="200000"/>
              </a:lnSpc>
              <a:spcBef>
                <a:spcPts val="0"/>
              </a:spcBef>
              <a:buFont typeface="Arial" panose="020B0604020202020204" pitchFamily="34" charset="0"/>
              <a:buChar char="•"/>
            </a:pPr>
            <a:r>
              <a:rPr lang="en-US" sz="1400" dirty="0">
                <a:latin typeface="Cambria" panose="02040503050406030204" pitchFamily="18" charset="0"/>
                <a:ea typeface="Cambria" panose="02040503050406030204" pitchFamily="18" charset="0"/>
              </a:rPr>
              <a:t>Timeline (Gantt Chart)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1400"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14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14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14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Abstract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lnSpc>
                <a:spcPct val="200000"/>
              </a:lnSpc>
              <a:spcBef>
                <a:spcPts val="0"/>
              </a:spcBef>
              <a:buSzPct val="100000"/>
              <a:buNone/>
            </a:pPr>
            <a:r>
              <a:rPr lang="en-US" sz="1400" dirty="0">
                <a:latin typeface="Cambria" panose="02040503050406030204" pitchFamily="18" charset="0"/>
                <a:ea typeface="Cambria" panose="02040503050406030204" pitchFamily="18" charset="0"/>
              </a:rPr>
              <a:t>     Student dropout is one of the most critical challenges in the education sector, directly impacting literacy rates, socio-economic growth, and the overall quality of education. Early identification of at-risk students enables timely interventions that can significantly reduce dropout rates and improve retention. This project focuses on analyzing historical academic records, socio-economic conditions, and attendance data to uncover the key factors contributing to dropout. Using statistical methods and machine learning algorithms such as Logistic Regression, Random Forest, and XG Boost, the system develops a predictive model capable of forecasting dropout risk with high accuracy. The project integrates diverse data sources, performs exploratory data analysis, and implements feature engineering techniques to enhance prediction reliability. A dashboard is designed for educators and policymakers, providing actionable insights and early alerts for intervention. By leveraging data-driven approaches, the proposed system aims to minimize student dropout rates, support educational institutions in resource planning, and contribute to the creation of a sustainable and inclusive education ecosystem.</a:t>
            </a:r>
            <a:endParaRPr sz="1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Literature Survey</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r>
              <a:rPr lang="en-IN" sz="2000" dirty="0" err="1">
                <a:latin typeface="Cambria" panose="02040503050406030204" pitchFamily="18" charset="0"/>
                <a:ea typeface="Cambria" panose="02040503050406030204" pitchFamily="18" charset="0"/>
              </a:rPr>
              <a:t>Psyridou</a:t>
            </a:r>
            <a:r>
              <a:rPr lang="en-IN" sz="2000" dirty="0">
                <a:latin typeface="Cambria" panose="02040503050406030204" pitchFamily="18" charset="0"/>
                <a:ea typeface="Cambria" panose="02040503050406030204" pitchFamily="18" charset="0"/>
              </a:rPr>
              <a:t> et al. (2024, Finland): Gradient boosting → AUC 0.65</a:t>
            </a:r>
          </a:p>
          <a:p>
            <a:r>
              <a:rPr lang="en-IN" sz="2000" dirty="0">
                <a:latin typeface="Cambria" panose="02040503050406030204" pitchFamily="18" charset="0"/>
                <a:ea typeface="Cambria" panose="02040503050406030204" pitchFamily="18" charset="0"/>
              </a:rPr>
              <a:t>Christie &amp; Jarratt (2019, USA): Early warning system with logistic regression</a:t>
            </a:r>
          </a:p>
          <a:p>
            <a:r>
              <a:rPr lang="en-IN" sz="2000" dirty="0">
                <a:latin typeface="Cambria" panose="02040503050406030204" pitchFamily="18" charset="0"/>
                <a:ea typeface="Cambria" panose="02040503050406030204" pitchFamily="18" charset="0"/>
              </a:rPr>
              <a:t>Lee et al. (2019, Korea): Tree ensembles + SMOTE handle imbalance</a:t>
            </a:r>
          </a:p>
          <a:p>
            <a:r>
              <a:rPr lang="en-IN" sz="2000" dirty="0" err="1">
                <a:latin typeface="Cambria" panose="02040503050406030204" pitchFamily="18" charset="0"/>
                <a:ea typeface="Cambria" panose="02040503050406030204" pitchFamily="18" charset="0"/>
              </a:rPr>
              <a:t>Uekawa</a:t>
            </a:r>
            <a:r>
              <a:rPr lang="en-IN" sz="2000" dirty="0">
                <a:latin typeface="Cambria" panose="02040503050406030204" pitchFamily="18" charset="0"/>
                <a:ea typeface="Cambria" panose="02040503050406030204" pitchFamily="18" charset="0"/>
              </a:rPr>
              <a:t> et al. (2010, USA): Attendance &amp; grades strongest predictors</a:t>
            </a:r>
          </a:p>
          <a:p>
            <a:r>
              <a:rPr lang="en-IN" sz="2000" dirty="0">
                <a:latin typeface="Cambria" panose="02040503050406030204" pitchFamily="18" charset="0"/>
                <a:ea typeface="Cambria" panose="02040503050406030204" pitchFamily="18" charset="0"/>
              </a:rPr>
              <a:t>Bulut (2024, USA): Random Forest &gt; Deep Learning; interpretable features</a:t>
            </a:r>
          </a:p>
          <a:p>
            <a:r>
              <a:rPr lang="en-IN" sz="2000" dirty="0">
                <a:latin typeface="Cambria" panose="02040503050406030204" pitchFamily="18" charset="0"/>
                <a:ea typeface="Cambria" panose="02040503050406030204" pitchFamily="18" charset="0"/>
              </a:rPr>
              <a:t>de Vasconcelos et al. (2023, Brazil): Psychological risk index</a:t>
            </a:r>
          </a:p>
          <a:p>
            <a:r>
              <a:rPr lang="en-IN" sz="2000" dirty="0" err="1">
                <a:latin typeface="Cambria" panose="02040503050406030204" pitchFamily="18" charset="0"/>
                <a:ea typeface="Cambria" panose="02040503050406030204" pitchFamily="18" charset="0"/>
              </a:rPr>
              <a:t>Vaarma</a:t>
            </a:r>
            <a:r>
              <a:rPr lang="en-IN" sz="2000" dirty="0">
                <a:latin typeface="Cambria" panose="02040503050406030204" pitchFamily="18" charset="0"/>
                <a:ea typeface="Cambria" panose="02040503050406030204" pitchFamily="18" charset="0"/>
              </a:rPr>
              <a:t> et al. (2024, Finland): Data fusion improves higher-ed predictions</a:t>
            </a:r>
          </a:p>
          <a:p>
            <a:r>
              <a:rPr lang="en-IN" sz="2000" dirty="0">
                <a:latin typeface="Cambria" panose="02040503050406030204" pitchFamily="18" charset="0"/>
                <a:ea typeface="Cambria" panose="02040503050406030204" pitchFamily="18" charset="0"/>
              </a:rPr>
              <a:t>Venkatesan et al. (2023, India): Spatial analysis of dropout hotspots</a:t>
            </a:r>
          </a:p>
          <a:p>
            <a:r>
              <a:rPr lang="en-IN" sz="2000" dirty="0">
                <a:latin typeface="Cambria" panose="02040503050406030204" pitchFamily="18" charset="0"/>
                <a:ea typeface="Cambria" panose="02040503050406030204" pitchFamily="18" charset="0"/>
              </a:rPr>
              <a:t>Hassan et al. (2024, Somaliland): RF with 95% accuracy, socioeconomic predictors</a:t>
            </a:r>
          </a:p>
          <a:p>
            <a:r>
              <a:rPr lang="en-IN" sz="2000" dirty="0" err="1">
                <a:latin typeface="Cambria" panose="02040503050406030204" pitchFamily="18" charset="0"/>
                <a:ea typeface="Cambria" panose="02040503050406030204" pitchFamily="18" charset="0"/>
              </a:rPr>
              <a:t>Elbouknify</a:t>
            </a:r>
            <a:r>
              <a:rPr lang="en-IN" sz="2000" dirty="0">
                <a:latin typeface="Cambria" panose="02040503050406030204" pitchFamily="18" charset="0"/>
                <a:ea typeface="Cambria" panose="02040503050406030204" pitchFamily="18" charset="0"/>
              </a:rPr>
              <a:t> et al. (2025, Morocco): SHAP interpretability, 88% accuracy</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1FE4B-0B58-5207-8A3D-E77A2A775C47}"/>
              </a:ext>
            </a:extLst>
          </p:cNvPr>
          <p:cNvSpPr>
            <a:spLocks noGrp="1"/>
          </p:cNvSpPr>
          <p:nvPr>
            <p:ph type="title"/>
          </p:nvPr>
        </p:nvSpPr>
        <p:spPr/>
        <p:txBody>
          <a:bodyPr/>
          <a:lstStyle/>
          <a:p>
            <a:r>
              <a:rPr lang="en-IN" dirty="0"/>
              <a:t>Objectives</a:t>
            </a:r>
          </a:p>
        </p:txBody>
      </p:sp>
      <p:sp>
        <p:nvSpPr>
          <p:cNvPr id="9" name="Rectangle 6">
            <a:extLst>
              <a:ext uri="{FF2B5EF4-FFF2-40B4-BE49-F238E27FC236}">
                <a16:creationId xmlns:a16="http://schemas.microsoft.com/office/drawing/2014/main" id="{18DD0D64-0F16-E98A-E60D-9736854CE534}"/>
              </a:ext>
            </a:extLst>
          </p:cNvPr>
          <p:cNvSpPr>
            <a:spLocks noGrp="1" noChangeArrowheads="1"/>
          </p:cNvSpPr>
          <p:nvPr>
            <p:ph type="body" idx="1"/>
          </p:nvPr>
        </p:nvSpPr>
        <p:spPr bwMode="auto">
          <a:xfrm>
            <a:off x="812800" y="1737337"/>
            <a:ext cx="11447365"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Identify key factors influencing student dropout</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using academic performance, attendance, and socio-economic indicators.</a:t>
            </a:r>
            <a:b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Analyze historical academic and socio-economic data</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to detect meaningful patterns and correlations.</a:t>
            </a:r>
            <a:b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Develop predictive machine learning models</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(e.g., Logistic Regression, Random Forest, XG Boost) to forecast at-risk students.</a:t>
            </a:r>
            <a:b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Provide early alerts</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students with a high probability of dropping out, enabling timely interventions.</a:t>
            </a:r>
            <a:b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Improve student retention rates</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through data-driven decision-making and targeted support strategies.</a:t>
            </a:r>
            <a:b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Design and deploy a user-friendly dashboard</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educators and policymakers to visualize insights and act effectively.</a:t>
            </a:r>
          </a:p>
        </p:txBody>
      </p:sp>
    </p:spTree>
    <p:extLst>
      <p:ext uri="{BB962C8B-B14F-4D97-AF65-F5344CB8AC3E}">
        <p14:creationId xmlns:p14="http://schemas.microsoft.com/office/powerpoint/2010/main" val="2564305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FEBAE-29F6-EDD2-DD58-4F7C995775D6}"/>
              </a:ext>
            </a:extLst>
          </p:cNvPr>
          <p:cNvSpPr>
            <a:spLocks noGrp="1"/>
          </p:cNvSpPr>
          <p:nvPr>
            <p:ph type="title"/>
          </p:nvPr>
        </p:nvSpPr>
        <p:spPr/>
        <p:txBody>
          <a:bodyPr/>
          <a:lstStyle/>
          <a:p>
            <a:r>
              <a:rPr lang="en-IN" dirty="0"/>
              <a:t>Existing Methods</a:t>
            </a:r>
          </a:p>
        </p:txBody>
      </p:sp>
      <p:sp>
        <p:nvSpPr>
          <p:cNvPr id="4" name="Rectangle 1">
            <a:extLst>
              <a:ext uri="{FF2B5EF4-FFF2-40B4-BE49-F238E27FC236}">
                <a16:creationId xmlns:a16="http://schemas.microsoft.com/office/drawing/2014/main" id="{0D6C9917-D6D5-F18C-024B-66A14399F56D}"/>
              </a:ext>
            </a:extLst>
          </p:cNvPr>
          <p:cNvSpPr>
            <a:spLocks noGrp="1" noChangeArrowheads="1"/>
          </p:cNvSpPr>
          <p:nvPr>
            <p:ph type="body" idx="1"/>
          </p:nvPr>
        </p:nvSpPr>
        <p:spPr bwMode="auto">
          <a:xfrm>
            <a:off x="812800" y="1111124"/>
            <a:ext cx="6500497"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Manual Monitoring by Teachers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Tracking attendance, grades, and behavior manually.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Relies heavily on teacher intuition and observation.</a:t>
            </a:r>
          </a:p>
          <a:p>
            <a:pPr marL="0" marR="0" lvl="0" indent="0" algn="l" defTabSz="914400" rtl="0" eaLnBrk="0" fontAlgn="base" latinLnBrk="0" hangingPunct="0">
              <a:lnSpc>
                <a:spcPct val="100000"/>
              </a:lnSpc>
              <a:spcBef>
                <a:spcPct val="0"/>
              </a:spcBef>
              <a:spcAft>
                <a:spcPct val="0"/>
              </a:spcAft>
              <a:buClrTx/>
              <a:buSzTx/>
              <a:buNone/>
              <a:tabLst/>
            </a:pPr>
            <a:br>
              <a:rPr lang="en-US" altLang="en-US" sz="1600" dirty="0">
                <a:solidFill>
                  <a:schemeClr val="tx1"/>
                </a:solidFill>
                <a:latin typeface="Cambria" panose="02040503050406030204" pitchFamily="18" charset="0"/>
                <a:ea typeface="Cambria" panose="02040503050406030204" pitchFamily="18" charset="0"/>
              </a:rPr>
            </a:b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Rule-Based Systems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Simple threshold-based methods (e.g., attendance &lt; 75%, GPA &lt; 2.0).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Students flagged only after performance falls below fixed cutoffs.</a:t>
            </a:r>
            <a:b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Traditional Statistical Models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Regression and correlation analyses used in earlier studies.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Identify relationships but struggle with large, complex datasets.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Basic Machine Learning Approaches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Logistic Regression and Decision Trees used in some research.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Limited scalability and often lack integration of socio-economic factors.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082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38BD9-2E35-C23F-A1B3-5849D480AD5D}"/>
              </a:ext>
            </a:extLst>
          </p:cNvPr>
          <p:cNvSpPr>
            <a:spLocks noGrp="1"/>
          </p:cNvSpPr>
          <p:nvPr>
            <p:ph type="title"/>
          </p:nvPr>
        </p:nvSpPr>
        <p:spPr/>
        <p:txBody>
          <a:bodyPr/>
          <a:lstStyle/>
          <a:p>
            <a:r>
              <a:rPr lang="en-IN" dirty="0"/>
              <a:t>Drawbacks of Existing Methods</a:t>
            </a:r>
          </a:p>
        </p:txBody>
      </p:sp>
      <p:sp>
        <p:nvSpPr>
          <p:cNvPr id="3" name="Text Placeholder 2">
            <a:extLst>
              <a:ext uri="{FF2B5EF4-FFF2-40B4-BE49-F238E27FC236}">
                <a16:creationId xmlns:a16="http://schemas.microsoft.com/office/drawing/2014/main" id="{A7F70C1C-3CD4-B9C7-3096-B0768D10A468}"/>
              </a:ext>
            </a:extLst>
          </p:cNvPr>
          <p:cNvSpPr>
            <a:spLocks noGrp="1"/>
          </p:cNvSpPr>
          <p:nvPr>
            <p:ph type="body" idx="1"/>
          </p:nvPr>
        </p:nvSpPr>
        <p:spPr/>
        <p:txBody>
          <a:bodyPr>
            <a:noAutofit/>
          </a:bodyPr>
          <a:lstStyle/>
          <a:p>
            <a:r>
              <a:rPr lang="en-US" b="1" dirty="0">
                <a:latin typeface="Cambria" panose="02040503050406030204" pitchFamily="18" charset="0"/>
                <a:ea typeface="Cambria" panose="02040503050406030204" pitchFamily="18" charset="0"/>
              </a:rPr>
              <a:t>Reactive, not proactive</a:t>
            </a:r>
            <a:r>
              <a:rPr lang="en-US" dirty="0">
                <a:latin typeface="Cambria" panose="02040503050406030204" pitchFamily="18" charset="0"/>
                <a:ea typeface="Cambria" panose="02040503050406030204" pitchFamily="18" charset="0"/>
              </a:rPr>
              <a:t> → Detect issues only after performance drops significantly.</a:t>
            </a:r>
          </a:p>
          <a:p>
            <a:r>
              <a:rPr lang="en-US" b="1" dirty="0">
                <a:latin typeface="Cambria" panose="02040503050406030204" pitchFamily="18" charset="0"/>
                <a:ea typeface="Cambria" panose="02040503050406030204" pitchFamily="18" charset="0"/>
              </a:rPr>
              <a:t>Narrow focus</a:t>
            </a:r>
            <a:r>
              <a:rPr lang="en-US" dirty="0">
                <a:latin typeface="Cambria" panose="02040503050406030204" pitchFamily="18" charset="0"/>
                <a:ea typeface="Cambria" panose="02040503050406030204" pitchFamily="18" charset="0"/>
              </a:rPr>
              <a:t> → Mostly depend on academics/attendance, ignoring socio-economic and psychological factors.</a:t>
            </a:r>
          </a:p>
          <a:p>
            <a:r>
              <a:rPr lang="en-US" b="1" dirty="0">
                <a:latin typeface="Cambria" panose="02040503050406030204" pitchFamily="18" charset="0"/>
                <a:ea typeface="Cambria" panose="02040503050406030204" pitchFamily="18" charset="0"/>
              </a:rPr>
              <a:t>Low accuracy</a:t>
            </a:r>
            <a:r>
              <a:rPr lang="en-US" dirty="0">
                <a:latin typeface="Cambria" panose="02040503050406030204" pitchFamily="18" charset="0"/>
                <a:ea typeface="Cambria" panose="02040503050406030204" pitchFamily="18" charset="0"/>
              </a:rPr>
              <a:t> with imbalanced datasets (fewer dropouts compared to majority students).</a:t>
            </a:r>
          </a:p>
          <a:p>
            <a:r>
              <a:rPr lang="en-US" b="1" dirty="0">
                <a:latin typeface="Cambria" panose="02040503050406030204" pitchFamily="18" charset="0"/>
                <a:ea typeface="Cambria" panose="02040503050406030204" pitchFamily="18" charset="0"/>
              </a:rPr>
              <a:t>Manual interventions</a:t>
            </a:r>
            <a:r>
              <a:rPr lang="en-US" dirty="0">
                <a:latin typeface="Cambria" panose="02040503050406030204" pitchFamily="18" charset="0"/>
                <a:ea typeface="Cambria" panose="02040503050406030204" pitchFamily="18" charset="0"/>
              </a:rPr>
              <a:t> → Time-consuming, error-prone, and inconsistent across institutions.</a:t>
            </a:r>
          </a:p>
          <a:p>
            <a:r>
              <a:rPr lang="en-US" b="1" dirty="0">
                <a:latin typeface="Cambria" panose="02040503050406030204" pitchFamily="18" charset="0"/>
                <a:ea typeface="Cambria" panose="02040503050406030204" pitchFamily="18" charset="0"/>
              </a:rPr>
              <a:t>Lack of integration</a:t>
            </a:r>
            <a:r>
              <a:rPr lang="en-US" dirty="0">
                <a:latin typeface="Cambria" panose="02040503050406030204" pitchFamily="18" charset="0"/>
                <a:ea typeface="Cambria" panose="02040503050406030204" pitchFamily="18" charset="0"/>
              </a:rPr>
              <a:t> → No unified platform for combining academic, attendance, and family background data.</a:t>
            </a:r>
          </a:p>
          <a:p>
            <a:r>
              <a:rPr lang="en-US" b="1" dirty="0">
                <a:latin typeface="Cambria" panose="02040503050406030204" pitchFamily="18" charset="0"/>
                <a:ea typeface="Cambria" panose="02040503050406030204" pitchFamily="18" charset="0"/>
              </a:rPr>
              <a:t>Poor generalization</a:t>
            </a:r>
            <a:r>
              <a:rPr lang="en-US" dirty="0">
                <a:latin typeface="Cambria" panose="02040503050406030204" pitchFamily="18" charset="0"/>
                <a:ea typeface="Cambria" panose="02040503050406030204" pitchFamily="18" charset="0"/>
              </a:rPr>
              <a:t> → Models built for one dataset/school often fail on different populations.</a:t>
            </a:r>
          </a:p>
        </p:txBody>
      </p:sp>
    </p:spTree>
    <p:extLst>
      <p:ext uri="{BB962C8B-B14F-4D97-AF65-F5344CB8AC3E}">
        <p14:creationId xmlns:p14="http://schemas.microsoft.com/office/powerpoint/2010/main" val="938955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1693F-DD21-D8AF-0DA3-91B1E1458AA2}"/>
              </a:ext>
            </a:extLst>
          </p:cNvPr>
          <p:cNvSpPr>
            <a:spLocks noGrp="1"/>
          </p:cNvSpPr>
          <p:nvPr>
            <p:ph type="title"/>
          </p:nvPr>
        </p:nvSpPr>
        <p:spPr/>
        <p:txBody>
          <a:bodyPr/>
          <a:lstStyle/>
          <a:p>
            <a:r>
              <a:rPr lang="en-IN" dirty="0"/>
              <a:t>Proposed Method</a:t>
            </a:r>
          </a:p>
        </p:txBody>
      </p:sp>
      <p:sp>
        <p:nvSpPr>
          <p:cNvPr id="3" name="Text Placeholder 2">
            <a:extLst>
              <a:ext uri="{FF2B5EF4-FFF2-40B4-BE49-F238E27FC236}">
                <a16:creationId xmlns:a16="http://schemas.microsoft.com/office/drawing/2014/main" id="{18756872-C366-20B0-CF5D-9480341AA30A}"/>
              </a:ext>
            </a:extLst>
          </p:cNvPr>
          <p:cNvSpPr>
            <a:spLocks noGrp="1"/>
          </p:cNvSpPr>
          <p:nvPr>
            <p:ph type="body" idx="1"/>
          </p:nvPr>
        </p:nvSpPr>
        <p:spPr/>
        <p:txBody>
          <a:bodyPr>
            <a:normAutofit fontScale="62500" lnSpcReduction="20000"/>
          </a:bodyPr>
          <a:lstStyle/>
          <a:p>
            <a:r>
              <a:rPr lang="en-IN" b="1" dirty="0">
                <a:latin typeface="Cambria" panose="02040503050406030204" pitchFamily="18" charset="0"/>
                <a:ea typeface="Cambria" panose="02040503050406030204" pitchFamily="18" charset="0"/>
              </a:rPr>
              <a:t>Data Collection</a:t>
            </a:r>
            <a:endParaRPr lang="en-IN" dirty="0">
              <a:latin typeface="Cambria" panose="02040503050406030204" pitchFamily="18" charset="0"/>
              <a:ea typeface="Cambria" panose="02040503050406030204" pitchFamily="18" charset="0"/>
            </a:endParaRPr>
          </a:p>
          <a:p>
            <a:pPr lvl="1"/>
            <a:r>
              <a:rPr lang="en-IN" dirty="0">
                <a:latin typeface="Cambria" panose="02040503050406030204" pitchFamily="18" charset="0"/>
                <a:ea typeface="Cambria" panose="02040503050406030204" pitchFamily="18" charset="0"/>
              </a:rPr>
              <a:t>Academic performance records</a:t>
            </a:r>
          </a:p>
          <a:p>
            <a:pPr lvl="1"/>
            <a:r>
              <a:rPr lang="en-IN" dirty="0">
                <a:latin typeface="Cambria" panose="02040503050406030204" pitchFamily="18" charset="0"/>
                <a:ea typeface="Cambria" panose="02040503050406030204" pitchFamily="18" charset="0"/>
              </a:rPr>
              <a:t>Attendance data</a:t>
            </a:r>
          </a:p>
          <a:p>
            <a:pPr lvl="1"/>
            <a:r>
              <a:rPr lang="en-IN" dirty="0">
                <a:latin typeface="Cambria" panose="02040503050406030204" pitchFamily="18" charset="0"/>
                <a:ea typeface="Cambria" panose="02040503050406030204" pitchFamily="18" charset="0"/>
              </a:rPr>
              <a:t>Socio-economic background (family income, parental education, geographic location)</a:t>
            </a:r>
          </a:p>
          <a:p>
            <a:r>
              <a:rPr lang="en-IN" b="1" dirty="0">
                <a:latin typeface="Cambria" panose="02040503050406030204" pitchFamily="18" charset="0"/>
                <a:ea typeface="Cambria" panose="02040503050406030204" pitchFamily="18" charset="0"/>
              </a:rPr>
              <a:t>Data Preprocessing</a:t>
            </a:r>
            <a:endParaRPr lang="en-IN" dirty="0">
              <a:latin typeface="Cambria" panose="02040503050406030204" pitchFamily="18" charset="0"/>
              <a:ea typeface="Cambria" panose="02040503050406030204" pitchFamily="18" charset="0"/>
            </a:endParaRPr>
          </a:p>
          <a:p>
            <a:pPr lvl="1"/>
            <a:r>
              <a:rPr lang="en-IN" dirty="0">
                <a:latin typeface="Cambria" panose="02040503050406030204" pitchFamily="18" charset="0"/>
                <a:ea typeface="Cambria" panose="02040503050406030204" pitchFamily="18" charset="0"/>
              </a:rPr>
              <a:t>Handling missing values</a:t>
            </a:r>
          </a:p>
          <a:p>
            <a:pPr lvl="1"/>
            <a:r>
              <a:rPr lang="en-IN" dirty="0">
                <a:latin typeface="Cambria" panose="02040503050406030204" pitchFamily="18" charset="0"/>
                <a:ea typeface="Cambria" panose="02040503050406030204" pitchFamily="18" charset="0"/>
              </a:rPr>
              <a:t>Encoding categorical variables</a:t>
            </a:r>
          </a:p>
          <a:p>
            <a:pPr lvl="1"/>
            <a:r>
              <a:rPr lang="en-IN" dirty="0">
                <a:latin typeface="Cambria" panose="02040503050406030204" pitchFamily="18" charset="0"/>
                <a:ea typeface="Cambria" panose="02040503050406030204" pitchFamily="18" charset="0"/>
              </a:rPr>
              <a:t>Normalization and feature scaling</a:t>
            </a:r>
          </a:p>
          <a:p>
            <a:r>
              <a:rPr lang="en-IN" b="1" dirty="0">
                <a:latin typeface="Cambria" panose="02040503050406030204" pitchFamily="18" charset="0"/>
                <a:ea typeface="Cambria" panose="02040503050406030204" pitchFamily="18" charset="0"/>
              </a:rPr>
              <a:t>Exploratory Data Analysis (EDA)</a:t>
            </a:r>
            <a:endParaRPr lang="en-IN" dirty="0">
              <a:latin typeface="Cambria" panose="02040503050406030204" pitchFamily="18" charset="0"/>
              <a:ea typeface="Cambria" panose="02040503050406030204" pitchFamily="18" charset="0"/>
            </a:endParaRPr>
          </a:p>
          <a:p>
            <a:pPr lvl="1"/>
            <a:r>
              <a:rPr lang="en-IN" dirty="0">
                <a:latin typeface="Cambria" panose="02040503050406030204" pitchFamily="18" charset="0"/>
                <a:ea typeface="Cambria" panose="02040503050406030204" pitchFamily="18" charset="0"/>
              </a:rPr>
              <a:t>Identify trends and correlations between dropout and various factors.</a:t>
            </a:r>
          </a:p>
          <a:p>
            <a:pPr lvl="1"/>
            <a:r>
              <a:rPr lang="en-IN" dirty="0">
                <a:latin typeface="Cambria" panose="02040503050406030204" pitchFamily="18" charset="0"/>
                <a:ea typeface="Cambria" panose="02040503050406030204" pitchFamily="18" charset="0"/>
              </a:rPr>
              <a:t>Visualize feature importance (e.g., attendance, grades, income).</a:t>
            </a:r>
          </a:p>
          <a:p>
            <a:r>
              <a:rPr lang="en-IN" b="1" dirty="0">
                <a:latin typeface="Cambria" panose="02040503050406030204" pitchFamily="18" charset="0"/>
                <a:ea typeface="Cambria" panose="02040503050406030204" pitchFamily="18" charset="0"/>
              </a:rPr>
              <a:t>Model Development</a:t>
            </a:r>
            <a:endParaRPr lang="en-IN" dirty="0">
              <a:latin typeface="Cambria" panose="02040503050406030204" pitchFamily="18" charset="0"/>
              <a:ea typeface="Cambria" panose="02040503050406030204" pitchFamily="18" charset="0"/>
            </a:endParaRPr>
          </a:p>
          <a:p>
            <a:pPr lvl="1"/>
            <a:r>
              <a:rPr lang="en-IN" dirty="0">
                <a:latin typeface="Cambria" panose="02040503050406030204" pitchFamily="18" charset="0"/>
                <a:ea typeface="Cambria" panose="02040503050406030204" pitchFamily="18" charset="0"/>
              </a:rPr>
              <a:t>Train and evaluate ML models (Logistic Regression, Random Forest, XG Boost).</a:t>
            </a:r>
          </a:p>
          <a:p>
            <a:pPr lvl="1"/>
            <a:r>
              <a:rPr lang="en-IN" dirty="0">
                <a:latin typeface="Cambria" panose="02040503050406030204" pitchFamily="18" charset="0"/>
                <a:ea typeface="Cambria" panose="02040503050406030204" pitchFamily="18" charset="0"/>
              </a:rPr>
              <a:t>Apply hyperparameter tuning for better accuracy.</a:t>
            </a:r>
          </a:p>
          <a:p>
            <a:pPr lvl="1"/>
            <a:r>
              <a:rPr lang="en-IN" dirty="0">
                <a:latin typeface="Cambria" panose="02040503050406030204" pitchFamily="18" charset="0"/>
                <a:ea typeface="Cambria" panose="02040503050406030204" pitchFamily="18" charset="0"/>
              </a:rPr>
              <a:t>Use techniques like </a:t>
            </a:r>
            <a:r>
              <a:rPr lang="en-IN" b="1" dirty="0">
                <a:latin typeface="Cambria" panose="02040503050406030204" pitchFamily="18" charset="0"/>
                <a:ea typeface="Cambria" panose="02040503050406030204" pitchFamily="18" charset="0"/>
              </a:rPr>
              <a:t>SMOTE</a:t>
            </a:r>
            <a:r>
              <a:rPr lang="en-IN" dirty="0">
                <a:latin typeface="Cambria" panose="02040503050406030204" pitchFamily="18" charset="0"/>
                <a:ea typeface="Cambria" panose="02040503050406030204" pitchFamily="18" charset="0"/>
              </a:rPr>
              <a:t> to handle dataset imbalance.</a:t>
            </a:r>
          </a:p>
          <a:p>
            <a:r>
              <a:rPr lang="en-IN" b="1" dirty="0">
                <a:latin typeface="Cambria" panose="02040503050406030204" pitchFamily="18" charset="0"/>
                <a:ea typeface="Cambria" panose="02040503050406030204" pitchFamily="18" charset="0"/>
              </a:rPr>
              <a:t>Prediction &amp; Alert System</a:t>
            </a:r>
            <a:endParaRPr lang="en-IN" dirty="0">
              <a:latin typeface="Cambria" panose="02040503050406030204" pitchFamily="18" charset="0"/>
              <a:ea typeface="Cambria" panose="02040503050406030204" pitchFamily="18" charset="0"/>
            </a:endParaRPr>
          </a:p>
          <a:p>
            <a:pPr lvl="1"/>
            <a:r>
              <a:rPr lang="en-IN" dirty="0">
                <a:latin typeface="Cambria" panose="02040503050406030204" pitchFamily="18" charset="0"/>
                <a:ea typeface="Cambria" panose="02040503050406030204" pitchFamily="18" charset="0"/>
              </a:rPr>
              <a:t>Classify students as </a:t>
            </a:r>
            <a:r>
              <a:rPr lang="en-IN" b="1" dirty="0">
                <a:latin typeface="Cambria" panose="02040503050406030204" pitchFamily="18" charset="0"/>
                <a:ea typeface="Cambria" panose="02040503050406030204" pitchFamily="18" charset="0"/>
              </a:rPr>
              <a:t>low-risk / medium-risk / high-risk</a:t>
            </a:r>
            <a:r>
              <a:rPr lang="en-IN" dirty="0">
                <a:latin typeface="Cambria" panose="02040503050406030204" pitchFamily="18" charset="0"/>
                <a:ea typeface="Cambria" panose="02040503050406030204" pitchFamily="18" charset="0"/>
              </a:rPr>
              <a:t> of dropout.</a:t>
            </a:r>
          </a:p>
          <a:p>
            <a:pPr lvl="1"/>
            <a:r>
              <a:rPr lang="en-IN" dirty="0">
                <a:latin typeface="Cambria" panose="02040503050406030204" pitchFamily="18" charset="0"/>
                <a:ea typeface="Cambria" panose="02040503050406030204" pitchFamily="18" charset="0"/>
              </a:rPr>
              <a:t>Generate </a:t>
            </a:r>
            <a:r>
              <a:rPr lang="en-IN" b="1" dirty="0">
                <a:latin typeface="Cambria" panose="02040503050406030204" pitchFamily="18" charset="0"/>
                <a:ea typeface="Cambria" panose="02040503050406030204" pitchFamily="18" charset="0"/>
              </a:rPr>
              <a:t>early warning alerts</a:t>
            </a:r>
            <a:r>
              <a:rPr lang="en-IN" dirty="0">
                <a:latin typeface="Cambria" panose="02040503050406030204" pitchFamily="18" charset="0"/>
                <a:ea typeface="Cambria" panose="02040503050406030204" pitchFamily="18" charset="0"/>
              </a:rPr>
              <a:t> for high-risk students.</a:t>
            </a:r>
          </a:p>
          <a:p>
            <a:r>
              <a:rPr lang="en-IN" b="1" dirty="0">
                <a:latin typeface="Cambria" panose="02040503050406030204" pitchFamily="18" charset="0"/>
                <a:ea typeface="Cambria" panose="02040503050406030204" pitchFamily="18" charset="0"/>
              </a:rPr>
              <a:t>Dashboard Deployment</a:t>
            </a:r>
            <a:endParaRPr lang="en-IN" dirty="0">
              <a:latin typeface="Cambria" panose="02040503050406030204" pitchFamily="18" charset="0"/>
              <a:ea typeface="Cambria" panose="02040503050406030204" pitchFamily="18" charset="0"/>
            </a:endParaRPr>
          </a:p>
          <a:p>
            <a:pPr lvl="1"/>
            <a:r>
              <a:rPr lang="en-IN" dirty="0">
                <a:latin typeface="Cambria" panose="02040503050406030204" pitchFamily="18" charset="0"/>
                <a:ea typeface="Cambria" panose="02040503050406030204" pitchFamily="18" charset="0"/>
              </a:rPr>
              <a:t>Use Flask/Stream lit to create an interactive interface.</a:t>
            </a:r>
          </a:p>
          <a:p>
            <a:pPr lvl="1"/>
            <a:r>
              <a:rPr lang="en-IN" dirty="0">
                <a:latin typeface="Cambria" panose="02040503050406030204" pitchFamily="18" charset="0"/>
                <a:ea typeface="Cambria" panose="02040503050406030204" pitchFamily="18" charset="0"/>
              </a:rPr>
              <a:t>Provide educators with actionable insights and intervention strategies.</a:t>
            </a:r>
          </a:p>
          <a:p>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88911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4ABEF-C769-EC75-9855-B188AACEB252}"/>
              </a:ext>
            </a:extLst>
          </p:cNvPr>
          <p:cNvSpPr>
            <a:spLocks noGrp="1"/>
          </p:cNvSpPr>
          <p:nvPr>
            <p:ph type="title"/>
          </p:nvPr>
        </p:nvSpPr>
        <p:spPr/>
        <p:txBody>
          <a:bodyPr/>
          <a:lstStyle/>
          <a:p>
            <a:r>
              <a:rPr lang="en-IN" dirty="0"/>
              <a:t>Feasibility Study</a:t>
            </a:r>
          </a:p>
        </p:txBody>
      </p:sp>
      <p:sp>
        <p:nvSpPr>
          <p:cNvPr id="3" name="Text Placeholder 2">
            <a:extLst>
              <a:ext uri="{FF2B5EF4-FFF2-40B4-BE49-F238E27FC236}">
                <a16:creationId xmlns:a16="http://schemas.microsoft.com/office/drawing/2014/main" id="{305CA512-6CC1-A63B-EFDF-D9B45E767047}"/>
              </a:ext>
            </a:extLst>
          </p:cNvPr>
          <p:cNvSpPr>
            <a:spLocks noGrp="1"/>
          </p:cNvSpPr>
          <p:nvPr>
            <p:ph type="body" idx="1"/>
          </p:nvPr>
        </p:nvSpPr>
        <p:spPr/>
        <p:txBody>
          <a:bodyPr>
            <a:noAutofit/>
          </a:bodyPr>
          <a:lstStyle/>
          <a:p>
            <a:pPr marL="76200" indent="0">
              <a:buNone/>
            </a:pPr>
            <a:r>
              <a:rPr lang="en-US" sz="1000" b="1" dirty="0">
                <a:latin typeface="Cambria" panose="02040503050406030204" pitchFamily="18" charset="0"/>
                <a:ea typeface="Cambria" panose="02040503050406030204" pitchFamily="18" charset="0"/>
              </a:rPr>
              <a:t>Technical Feasibility</a:t>
            </a:r>
          </a:p>
          <a:p>
            <a:pPr marL="76200" indent="0">
              <a:buNone/>
            </a:pPr>
            <a:endParaRPr lang="en-US" sz="1000" b="1" dirty="0">
              <a:latin typeface="Cambria" panose="02040503050406030204" pitchFamily="18" charset="0"/>
              <a:ea typeface="Cambria" panose="02040503050406030204" pitchFamily="18" charset="0"/>
            </a:endParaRPr>
          </a:p>
          <a:p>
            <a:r>
              <a:rPr lang="en-US" sz="1000" dirty="0">
                <a:latin typeface="Cambria" panose="02040503050406030204" pitchFamily="18" charset="0"/>
                <a:ea typeface="Cambria" panose="02040503050406030204" pitchFamily="18" charset="0"/>
              </a:rPr>
              <a:t>Programming: </a:t>
            </a:r>
            <a:r>
              <a:rPr lang="en-US" sz="1000" b="1" dirty="0">
                <a:latin typeface="Cambria" panose="02040503050406030204" pitchFamily="18" charset="0"/>
                <a:ea typeface="Cambria" panose="02040503050406030204" pitchFamily="18" charset="0"/>
              </a:rPr>
              <a:t>Python (3.8+)</a:t>
            </a:r>
            <a:r>
              <a:rPr lang="en-US" sz="1000" dirty="0">
                <a:latin typeface="Cambria" panose="02040503050406030204" pitchFamily="18" charset="0"/>
                <a:ea typeface="Cambria" panose="02040503050406030204" pitchFamily="18" charset="0"/>
              </a:rPr>
              <a:t> with libraries (Pandas, NumPy, Scikit-learn, Matplotlib, Seaborn).</a:t>
            </a:r>
          </a:p>
          <a:p>
            <a:r>
              <a:rPr lang="en-US" sz="1000" dirty="0">
                <a:latin typeface="Cambria" panose="02040503050406030204" pitchFamily="18" charset="0"/>
                <a:ea typeface="Cambria" panose="02040503050406030204" pitchFamily="18" charset="0"/>
              </a:rPr>
              <a:t>Database: </a:t>
            </a:r>
            <a:r>
              <a:rPr lang="en-US" sz="1000" b="1" dirty="0">
                <a:latin typeface="Cambria" panose="02040503050406030204" pitchFamily="18" charset="0"/>
                <a:ea typeface="Cambria" panose="02040503050406030204" pitchFamily="18" charset="0"/>
              </a:rPr>
              <a:t>MySQL / SQLite</a:t>
            </a:r>
            <a:r>
              <a:rPr lang="en-US" sz="1000" dirty="0">
                <a:latin typeface="Cambria" panose="02040503050406030204" pitchFamily="18" charset="0"/>
                <a:ea typeface="Cambria" panose="02040503050406030204" pitchFamily="18" charset="0"/>
              </a:rPr>
              <a:t> for storing student data.</a:t>
            </a:r>
          </a:p>
          <a:p>
            <a:r>
              <a:rPr lang="en-US" sz="1000" dirty="0">
                <a:latin typeface="Cambria" panose="02040503050406030204" pitchFamily="18" charset="0"/>
                <a:ea typeface="Cambria" panose="02040503050406030204" pitchFamily="18" charset="0"/>
              </a:rPr>
              <a:t>Deployment: Lightweight deployment via </a:t>
            </a:r>
            <a:r>
              <a:rPr lang="en-US" sz="1000" b="1" dirty="0">
                <a:latin typeface="Cambria" panose="02040503050406030204" pitchFamily="18" charset="0"/>
                <a:ea typeface="Cambria" panose="02040503050406030204" pitchFamily="18" charset="0"/>
              </a:rPr>
              <a:t>Flask/Stream lit</a:t>
            </a:r>
            <a:r>
              <a:rPr lang="en-US" sz="1000" dirty="0">
                <a:latin typeface="Cambria" panose="02040503050406030204" pitchFamily="18" charset="0"/>
                <a:ea typeface="Cambria" panose="02040503050406030204" pitchFamily="18" charset="0"/>
              </a:rPr>
              <a:t> → accessible on any system.</a:t>
            </a:r>
          </a:p>
          <a:p>
            <a:r>
              <a:rPr lang="en-US" sz="1000" dirty="0">
                <a:latin typeface="Cambria" panose="02040503050406030204" pitchFamily="18" charset="0"/>
                <a:ea typeface="Cambria" panose="02040503050406030204" pitchFamily="18" charset="0"/>
              </a:rPr>
              <a:t>Conclusion: Tools and technologies are readily available, making implementation feasible.</a:t>
            </a:r>
            <a:br>
              <a:rPr lang="en-US" sz="1000" dirty="0">
                <a:latin typeface="Cambria" panose="02040503050406030204" pitchFamily="18" charset="0"/>
                <a:ea typeface="Cambria" panose="02040503050406030204" pitchFamily="18" charset="0"/>
              </a:rPr>
            </a:br>
            <a:endParaRPr lang="en-US" sz="1000" dirty="0">
              <a:latin typeface="Cambria" panose="02040503050406030204" pitchFamily="18" charset="0"/>
              <a:ea typeface="Cambria" panose="02040503050406030204" pitchFamily="18" charset="0"/>
            </a:endParaRPr>
          </a:p>
          <a:p>
            <a:pPr marL="76200" indent="0">
              <a:buNone/>
            </a:pPr>
            <a:r>
              <a:rPr lang="en-US" sz="1000" b="1" dirty="0">
                <a:latin typeface="Cambria" panose="02040503050406030204" pitchFamily="18" charset="0"/>
                <a:ea typeface="Cambria" panose="02040503050406030204" pitchFamily="18" charset="0"/>
              </a:rPr>
              <a:t>Operational Feasibility</a:t>
            </a:r>
          </a:p>
          <a:p>
            <a:pPr marL="76200" indent="0">
              <a:buNone/>
            </a:pPr>
            <a:endParaRPr lang="en-US" sz="1000" b="1" dirty="0">
              <a:latin typeface="Cambria" panose="02040503050406030204" pitchFamily="18" charset="0"/>
              <a:ea typeface="Cambria" panose="02040503050406030204" pitchFamily="18" charset="0"/>
            </a:endParaRPr>
          </a:p>
          <a:p>
            <a:r>
              <a:rPr lang="en-US" sz="1000" dirty="0">
                <a:latin typeface="Cambria" panose="02040503050406030204" pitchFamily="18" charset="0"/>
                <a:ea typeface="Cambria" panose="02040503050406030204" pitchFamily="18" charset="0"/>
              </a:rPr>
              <a:t>Educators and policymakers can easily use the dashboard without technical expertise.</a:t>
            </a:r>
          </a:p>
          <a:p>
            <a:r>
              <a:rPr lang="en-US" sz="1000" dirty="0">
                <a:latin typeface="Cambria" panose="02040503050406030204" pitchFamily="18" charset="0"/>
                <a:ea typeface="Cambria" panose="02040503050406030204" pitchFamily="18" charset="0"/>
              </a:rPr>
              <a:t>Early alerts help schools focus on </a:t>
            </a:r>
            <a:r>
              <a:rPr lang="en-US" sz="1000" b="1" dirty="0">
                <a:latin typeface="Cambria" panose="02040503050406030204" pitchFamily="18" charset="0"/>
                <a:ea typeface="Cambria" panose="02040503050406030204" pitchFamily="18" charset="0"/>
              </a:rPr>
              <a:t>preventive interventions</a:t>
            </a:r>
            <a:r>
              <a:rPr lang="en-US" sz="1000" dirty="0">
                <a:latin typeface="Cambria" panose="02040503050406030204" pitchFamily="18" charset="0"/>
                <a:ea typeface="Cambria" panose="02040503050406030204" pitchFamily="18" charset="0"/>
              </a:rPr>
              <a:t> instead of late corrections.</a:t>
            </a:r>
          </a:p>
          <a:p>
            <a:r>
              <a:rPr lang="en-US" sz="1000" dirty="0">
                <a:latin typeface="Cambria" panose="02040503050406030204" pitchFamily="18" charset="0"/>
                <a:ea typeface="Cambria" panose="02040503050406030204" pitchFamily="18" charset="0"/>
              </a:rPr>
              <a:t>System fits into existing workflows (attendance records, academic reports).</a:t>
            </a:r>
            <a:br>
              <a:rPr lang="en-US" sz="1000" dirty="0">
                <a:latin typeface="Cambria" panose="02040503050406030204" pitchFamily="18" charset="0"/>
                <a:ea typeface="Cambria" panose="02040503050406030204" pitchFamily="18" charset="0"/>
              </a:rPr>
            </a:br>
            <a:endParaRPr lang="en-US" sz="1000" dirty="0">
              <a:latin typeface="Cambria" panose="02040503050406030204" pitchFamily="18" charset="0"/>
              <a:ea typeface="Cambria" panose="02040503050406030204" pitchFamily="18" charset="0"/>
            </a:endParaRPr>
          </a:p>
          <a:p>
            <a:pPr marL="76200" indent="0">
              <a:buNone/>
            </a:pPr>
            <a:r>
              <a:rPr lang="en-US" sz="1000" b="1" dirty="0">
                <a:latin typeface="Cambria" panose="02040503050406030204" pitchFamily="18" charset="0"/>
                <a:ea typeface="Cambria" panose="02040503050406030204" pitchFamily="18" charset="0"/>
              </a:rPr>
              <a:t>Economic Feasibility</a:t>
            </a:r>
          </a:p>
          <a:p>
            <a:pPr marL="76200" indent="0">
              <a:buNone/>
            </a:pPr>
            <a:endParaRPr lang="en-US" sz="1000" b="1" dirty="0">
              <a:latin typeface="Cambria" panose="02040503050406030204" pitchFamily="18" charset="0"/>
              <a:ea typeface="Cambria" panose="02040503050406030204" pitchFamily="18" charset="0"/>
            </a:endParaRPr>
          </a:p>
          <a:p>
            <a:r>
              <a:rPr lang="en-US" sz="1000" dirty="0">
                <a:latin typeface="Cambria" panose="02040503050406030204" pitchFamily="18" charset="0"/>
                <a:ea typeface="Cambria" panose="02040503050406030204" pitchFamily="18" charset="0"/>
              </a:rPr>
              <a:t>Uses </a:t>
            </a:r>
            <a:r>
              <a:rPr lang="en-US" sz="1000" b="1" dirty="0">
                <a:latin typeface="Cambria" panose="02040503050406030204" pitchFamily="18" charset="0"/>
                <a:ea typeface="Cambria" panose="02040503050406030204" pitchFamily="18" charset="0"/>
              </a:rPr>
              <a:t>open-source tools and libraries</a:t>
            </a:r>
            <a:r>
              <a:rPr lang="en-US" sz="1000" dirty="0">
                <a:latin typeface="Cambria" panose="02040503050406030204" pitchFamily="18" charset="0"/>
                <a:ea typeface="Cambria" panose="02040503050406030204" pitchFamily="18" charset="0"/>
              </a:rPr>
              <a:t> → minimal cost.</a:t>
            </a:r>
          </a:p>
          <a:p>
            <a:r>
              <a:rPr lang="en-US" sz="1000" dirty="0">
                <a:latin typeface="Cambria" panose="02040503050406030204" pitchFamily="18" charset="0"/>
                <a:ea typeface="Cambria" panose="02040503050406030204" pitchFamily="18" charset="0"/>
              </a:rPr>
              <a:t>Requires only standard computing infrastructure (school servers or cloud hosting).</a:t>
            </a:r>
          </a:p>
          <a:p>
            <a:r>
              <a:rPr lang="en-US" sz="1000" dirty="0">
                <a:latin typeface="Cambria" panose="02040503050406030204" pitchFamily="18" charset="0"/>
                <a:ea typeface="Cambria" panose="02040503050406030204" pitchFamily="18" charset="0"/>
              </a:rPr>
              <a:t>High potential benefit: reducing dropout improves </a:t>
            </a:r>
            <a:r>
              <a:rPr lang="en-US" sz="1000" b="1" dirty="0">
                <a:latin typeface="Cambria" panose="02040503050406030204" pitchFamily="18" charset="0"/>
                <a:ea typeface="Cambria" panose="02040503050406030204" pitchFamily="18" charset="0"/>
              </a:rPr>
              <a:t>school reputation, funding, and outcomes</a:t>
            </a:r>
            <a:r>
              <a:rPr lang="en-US" sz="1000" dirty="0">
                <a:latin typeface="Cambria" panose="02040503050406030204" pitchFamily="18" charset="0"/>
                <a:ea typeface="Cambria" panose="02040503050406030204" pitchFamily="18" charset="0"/>
              </a:rPr>
              <a:t>.</a:t>
            </a:r>
            <a:br>
              <a:rPr lang="en-US" sz="1000" dirty="0">
                <a:latin typeface="Cambria" panose="02040503050406030204" pitchFamily="18" charset="0"/>
                <a:ea typeface="Cambria" panose="02040503050406030204" pitchFamily="18" charset="0"/>
              </a:rPr>
            </a:br>
            <a:endParaRPr lang="en-US" sz="1000" dirty="0">
              <a:latin typeface="Cambria" panose="02040503050406030204" pitchFamily="18" charset="0"/>
              <a:ea typeface="Cambria" panose="02040503050406030204" pitchFamily="18" charset="0"/>
            </a:endParaRPr>
          </a:p>
          <a:p>
            <a:pPr marL="76200" indent="0">
              <a:buNone/>
            </a:pPr>
            <a:r>
              <a:rPr lang="en-US" sz="1000" b="1" dirty="0">
                <a:latin typeface="Cambria" panose="02040503050406030204" pitchFamily="18" charset="0"/>
                <a:ea typeface="Cambria" panose="02040503050406030204" pitchFamily="18" charset="0"/>
              </a:rPr>
              <a:t>Time Feasibility</a:t>
            </a:r>
          </a:p>
          <a:p>
            <a:pPr marL="76200" indent="0">
              <a:buNone/>
            </a:pPr>
            <a:endParaRPr lang="en-US" sz="1000" b="1" dirty="0">
              <a:latin typeface="Cambria" panose="02040503050406030204" pitchFamily="18" charset="0"/>
              <a:ea typeface="Cambria" panose="02040503050406030204" pitchFamily="18" charset="0"/>
            </a:endParaRPr>
          </a:p>
          <a:p>
            <a:r>
              <a:rPr lang="en-US" sz="1000" dirty="0">
                <a:latin typeface="Cambria" panose="02040503050406030204" pitchFamily="18" charset="0"/>
                <a:ea typeface="Cambria" panose="02040503050406030204" pitchFamily="18" charset="0"/>
              </a:rPr>
              <a:t>Development divided into clear phases: Data Collection → Preprocessing → Modeling → Deployment.</a:t>
            </a:r>
          </a:p>
          <a:p>
            <a:r>
              <a:rPr lang="en-US" sz="1000" dirty="0">
                <a:latin typeface="Cambria" panose="02040503050406030204" pitchFamily="18" charset="0"/>
                <a:ea typeface="Cambria" panose="02040503050406030204" pitchFamily="18" charset="0"/>
              </a:rPr>
              <a:t>Project can be completed within the </a:t>
            </a:r>
            <a:r>
              <a:rPr lang="en-US" sz="1000" b="1" dirty="0">
                <a:latin typeface="Cambria" panose="02040503050406030204" pitchFamily="18" charset="0"/>
                <a:ea typeface="Cambria" panose="02040503050406030204" pitchFamily="18" charset="0"/>
              </a:rPr>
              <a:t>capstone timeline</a:t>
            </a:r>
            <a:r>
              <a:rPr lang="en-US" sz="1000" dirty="0">
                <a:latin typeface="Cambria" panose="02040503050406030204" pitchFamily="18" charset="0"/>
                <a:ea typeface="Cambria" panose="02040503050406030204" pitchFamily="18" charset="0"/>
              </a:rPr>
              <a:t> (as per review schedule).</a:t>
            </a:r>
          </a:p>
        </p:txBody>
      </p:sp>
    </p:spTree>
    <p:extLst>
      <p:ext uri="{BB962C8B-B14F-4D97-AF65-F5344CB8AC3E}">
        <p14:creationId xmlns:p14="http://schemas.microsoft.com/office/powerpoint/2010/main" val="3406430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A36D6-26FD-7BE3-004C-71CB2A713F91}"/>
              </a:ext>
            </a:extLst>
          </p:cNvPr>
          <p:cNvSpPr>
            <a:spLocks noGrp="1"/>
          </p:cNvSpPr>
          <p:nvPr>
            <p:ph type="title"/>
          </p:nvPr>
        </p:nvSpPr>
        <p:spPr/>
        <p:txBody>
          <a:bodyPr/>
          <a:lstStyle/>
          <a:p>
            <a:r>
              <a:rPr lang="en-IN" dirty="0"/>
              <a:t>Architecture Diagram</a:t>
            </a:r>
          </a:p>
        </p:txBody>
      </p:sp>
      <p:pic>
        <p:nvPicPr>
          <p:cNvPr id="5" name="Picture 4">
            <a:extLst>
              <a:ext uri="{FF2B5EF4-FFF2-40B4-BE49-F238E27FC236}">
                <a16:creationId xmlns:a16="http://schemas.microsoft.com/office/drawing/2014/main" id="{EFD2687B-B713-C511-6AD5-F783798D9218}"/>
              </a:ext>
            </a:extLst>
          </p:cNvPr>
          <p:cNvPicPr>
            <a:picLocks noChangeAspect="1"/>
          </p:cNvPicPr>
          <p:nvPr/>
        </p:nvPicPr>
        <p:blipFill>
          <a:blip r:embed="rId2"/>
          <a:stretch>
            <a:fillRect/>
          </a:stretch>
        </p:blipFill>
        <p:spPr>
          <a:xfrm>
            <a:off x="1167325" y="943897"/>
            <a:ext cx="10502415" cy="5102941"/>
          </a:xfrm>
          <a:prstGeom prst="rect">
            <a:avLst/>
          </a:prstGeom>
        </p:spPr>
      </p:pic>
    </p:spTree>
    <p:extLst>
      <p:ext uri="{BB962C8B-B14F-4D97-AF65-F5344CB8AC3E}">
        <p14:creationId xmlns:p14="http://schemas.microsoft.com/office/powerpoint/2010/main" val="944336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B481-7595-A570-B1E1-F4DA2CCE7F82}"/>
              </a:ext>
            </a:extLst>
          </p:cNvPr>
          <p:cNvSpPr>
            <a:spLocks noGrp="1"/>
          </p:cNvSpPr>
          <p:nvPr>
            <p:ph type="title"/>
          </p:nvPr>
        </p:nvSpPr>
        <p:spPr/>
        <p:txBody>
          <a:bodyPr/>
          <a:lstStyle/>
          <a:p>
            <a:r>
              <a:rPr lang="en-IN" dirty="0"/>
              <a:t>Modules</a:t>
            </a:r>
          </a:p>
        </p:txBody>
      </p:sp>
      <p:sp>
        <p:nvSpPr>
          <p:cNvPr id="3" name="Text Placeholder 2">
            <a:extLst>
              <a:ext uri="{FF2B5EF4-FFF2-40B4-BE49-F238E27FC236}">
                <a16:creationId xmlns:a16="http://schemas.microsoft.com/office/drawing/2014/main" id="{E3061564-7ABA-CFD8-0163-4BE1AD102CA0}"/>
              </a:ext>
            </a:extLst>
          </p:cNvPr>
          <p:cNvSpPr>
            <a:spLocks noGrp="1"/>
          </p:cNvSpPr>
          <p:nvPr>
            <p:ph type="body" idx="1"/>
          </p:nvPr>
        </p:nvSpPr>
        <p:spPr>
          <a:xfrm>
            <a:off x="812800" y="952500"/>
            <a:ext cx="10668000" cy="4953000"/>
          </a:xfrm>
        </p:spPr>
        <p:txBody>
          <a:bodyPr>
            <a:noAutofit/>
          </a:bodyPr>
          <a:lstStyle/>
          <a:p>
            <a:pPr marL="76200" indent="0">
              <a:buNone/>
            </a:pPr>
            <a:r>
              <a:rPr lang="en-US" sz="1400" b="1" dirty="0">
                <a:latin typeface="Cambria" panose="02040503050406030204" pitchFamily="18" charset="0"/>
                <a:ea typeface="Cambria" panose="02040503050406030204" pitchFamily="18" charset="0"/>
              </a:rPr>
              <a:t>Data Collection Module</a:t>
            </a:r>
          </a:p>
          <a:p>
            <a:pPr marL="76200" indent="0">
              <a:buNone/>
            </a:pPr>
            <a:endParaRPr lang="en-US" sz="1400" b="1" dirty="0">
              <a:latin typeface="Cambria" panose="02040503050406030204" pitchFamily="18" charset="0"/>
              <a:ea typeface="Cambria" panose="02040503050406030204" pitchFamily="18" charset="0"/>
            </a:endParaRPr>
          </a:p>
          <a:p>
            <a:r>
              <a:rPr lang="en-US" sz="1400" dirty="0">
                <a:latin typeface="Cambria" panose="02040503050406030204" pitchFamily="18" charset="0"/>
                <a:ea typeface="Cambria" panose="02040503050406030204" pitchFamily="18" charset="0"/>
              </a:rPr>
              <a:t>Gathers data from academic records, attendance sheets, and socio-economic sources.</a:t>
            </a:r>
          </a:p>
          <a:p>
            <a:r>
              <a:rPr lang="en-US" sz="1400" dirty="0">
                <a:latin typeface="Cambria" panose="02040503050406030204" pitchFamily="18" charset="0"/>
                <a:ea typeface="Cambria" panose="02040503050406030204" pitchFamily="18" charset="0"/>
              </a:rPr>
              <a:t>Stores data in a structured format (MySQL/SQLite).</a:t>
            </a:r>
          </a:p>
          <a:p>
            <a:r>
              <a:rPr lang="en-US" sz="1400" dirty="0">
                <a:latin typeface="Cambria" panose="02040503050406030204" pitchFamily="18" charset="0"/>
                <a:ea typeface="Cambria" panose="02040503050406030204" pitchFamily="18" charset="0"/>
              </a:rPr>
              <a:t>Ensures secure and consistent data handling.</a:t>
            </a:r>
          </a:p>
          <a:p>
            <a:pPr marL="76200" indent="0">
              <a:buNone/>
            </a:pPr>
            <a:endParaRPr lang="en-US" sz="1400" dirty="0">
              <a:latin typeface="Cambria" panose="02040503050406030204" pitchFamily="18" charset="0"/>
              <a:ea typeface="Cambria" panose="02040503050406030204" pitchFamily="18" charset="0"/>
            </a:endParaRPr>
          </a:p>
          <a:p>
            <a:pPr marL="76200" indent="0">
              <a:buNone/>
            </a:pPr>
            <a:r>
              <a:rPr lang="en-IN" sz="1400" b="1" dirty="0">
                <a:latin typeface="Cambria" panose="02040503050406030204" pitchFamily="18" charset="0"/>
                <a:ea typeface="Cambria" panose="02040503050406030204" pitchFamily="18" charset="0"/>
              </a:rPr>
              <a:t>Data Preprocessing Module</a:t>
            </a:r>
          </a:p>
          <a:p>
            <a:pPr marL="76200" indent="0">
              <a:buNone/>
            </a:pPr>
            <a:endParaRPr lang="en-IN" sz="1400" b="1" dirty="0">
              <a:latin typeface="Cambria" panose="02040503050406030204" pitchFamily="18" charset="0"/>
              <a:ea typeface="Cambria" panose="02040503050406030204" pitchFamily="18" charset="0"/>
            </a:endParaRPr>
          </a:p>
          <a:p>
            <a:r>
              <a:rPr lang="en-IN" sz="1400" dirty="0">
                <a:latin typeface="Cambria" panose="02040503050406030204" pitchFamily="18" charset="0"/>
                <a:ea typeface="Cambria" panose="02040503050406030204" pitchFamily="18" charset="0"/>
              </a:rPr>
              <a:t>Handles missing values and noisy data.</a:t>
            </a:r>
          </a:p>
          <a:p>
            <a:r>
              <a:rPr lang="en-IN" sz="1400" dirty="0">
                <a:latin typeface="Cambria" panose="02040503050406030204" pitchFamily="18" charset="0"/>
                <a:ea typeface="Cambria" panose="02040503050406030204" pitchFamily="18" charset="0"/>
              </a:rPr>
              <a:t>Encodes categorical variables (e.g., gender, parental education).</a:t>
            </a:r>
          </a:p>
          <a:p>
            <a:r>
              <a:rPr lang="en-IN" sz="1400" dirty="0">
                <a:latin typeface="Cambria" panose="02040503050406030204" pitchFamily="18" charset="0"/>
                <a:ea typeface="Cambria" panose="02040503050406030204" pitchFamily="18" charset="0"/>
              </a:rPr>
              <a:t>Normalizes/standardizes numerical features.</a:t>
            </a:r>
          </a:p>
          <a:p>
            <a:r>
              <a:rPr lang="en-IN" sz="1400" dirty="0">
                <a:latin typeface="Cambria" panose="02040503050406030204" pitchFamily="18" charset="0"/>
                <a:ea typeface="Cambria" panose="02040503050406030204" pitchFamily="18" charset="0"/>
              </a:rPr>
              <a:t>Splits data into training and testing sets.</a:t>
            </a:r>
          </a:p>
          <a:p>
            <a:pPr marL="76200" indent="0">
              <a:buNone/>
            </a:pPr>
            <a:endParaRPr lang="en-US" sz="1400" dirty="0">
              <a:latin typeface="Cambria" panose="02040503050406030204" pitchFamily="18" charset="0"/>
              <a:ea typeface="Cambria" panose="02040503050406030204" pitchFamily="18" charset="0"/>
            </a:endParaRPr>
          </a:p>
          <a:p>
            <a:pPr marL="76200" indent="0">
              <a:buNone/>
            </a:pPr>
            <a:r>
              <a:rPr lang="en-US" sz="1400" b="1" dirty="0">
                <a:latin typeface="Cambria" panose="02040503050406030204" pitchFamily="18" charset="0"/>
                <a:ea typeface="Cambria" panose="02040503050406030204" pitchFamily="18" charset="0"/>
              </a:rPr>
              <a:t>Exploratory Data Analysis (EDA) Module</a:t>
            </a:r>
          </a:p>
          <a:p>
            <a:pPr marL="76200" indent="0">
              <a:buNone/>
            </a:pPr>
            <a:endParaRPr lang="en-US" sz="1400" b="1" dirty="0">
              <a:latin typeface="Cambria" panose="02040503050406030204" pitchFamily="18" charset="0"/>
              <a:ea typeface="Cambria" panose="02040503050406030204" pitchFamily="18" charset="0"/>
            </a:endParaRPr>
          </a:p>
          <a:p>
            <a:r>
              <a:rPr lang="en-US" sz="1400" dirty="0">
                <a:latin typeface="Cambria" panose="02040503050406030204" pitchFamily="18" charset="0"/>
                <a:ea typeface="Cambria" panose="02040503050406030204" pitchFamily="18" charset="0"/>
              </a:rPr>
              <a:t>Generates statistical summaries and visualizations.</a:t>
            </a:r>
          </a:p>
          <a:p>
            <a:r>
              <a:rPr lang="en-US" sz="1400" dirty="0">
                <a:latin typeface="Cambria" panose="02040503050406030204" pitchFamily="18" charset="0"/>
                <a:ea typeface="Cambria" panose="02040503050406030204" pitchFamily="18" charset="0"/>
              </a:rPr>
              <a:t>Identifies correlations among academic, attendance, and socio-economic factors.</a:t>
            </a:r>
          </a:p>
          <a:p>
            <a:r>
              <a:rPr lang="en-US" sz="1400" dirty="0">
                <a:latin typeface="Cambria" panose="02040503050406030204" pitchFamily="18" charset="0"/>
                <a:ea typeface="Cambria" panose="02040503050406030204" pitchFamily="18" charset="0"/>
              </a:rPr>
              <a:t>Highlights most important predictors of dropout.</a:t>
            </a:r>
          </a:p>
          <a:p>
            <a:pPr marL="76200" indent="0">
              <a:buNone/>
            </a:pPr>
            <a:endParaRPr lang="en-US" sz="1400" dirty="0">
              <a:latin typeface="Cambria" panose="02040503050406030204" pitchFamily="18" charset="0"/>
              <a:ea typeface="Cambria" panose="02040503050406030204" pitchFamily="18" charset="0"/>
            </a:endParaRPr>
          </a:p>
          <a:p>
            <a:endParaRPr lang="en-IN" sz="1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5177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B8AF6-AD38-58D8-B21F-EC997C16554A}"/>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2CA73CDE-BBF7-E055-1058-1B3B0D0C28E8}"/>
              </a:ext>
            </a:extLst>
          </p:cNvPr>
          <p:cNvSpPr>
            <a:spLocks noGrp="1"/>
          </p:cNvSpPr>
          <p:nvPr>
            <p:ph type="body" idx="1"/>
          </p:nvPr>
        </p:nvSpPr>
        <p:spPr>
          <a:xfrm>
            <a:off x="812800" y="952500"/>
            <a:ext cx="10668000" cy="4953000"/>
          </a:xfrm>
        </p:spPr>
        <p:txBody>
          <a:bodyPr>
            <a:noAutofit/>
          </a:bodyPr>
          <a:lstStyle/>
          <a:p>
            <a:pPr marL="76200" indent="0">
              <a:buNone/>
            </a:pPr>
            <a:r>
              <a:rPr lang="en-IN" sz="1300" b="1" dirty="0">
                <a:latin typeface="Cambria" panose="02040503050406030204" pitchFamily="18" charset="0"/>
                <a:ea typeface="Cambria" panose="02040503050406030204" pitchFamily="18" charset="0"/>
              </a:rPr>
              <a:t>Prediction Module (Machine Learning Models)</a:t>
            </a:r>
          </a:p>
          <a:p>
            <a:pPr marL="76200" indent="0">
              <a:buNone/>
            </a:pPr>
            <a:endParaRPr lang="en-IN" sz="1300" b="1" dirty="0">
              <a:latin typeface="Cambria" panose="02040503050406030204" pitchFamily="18" charset="0"/>
              <a:ea typeface="Cambria" panose="02040503050406030204" pitchFamily="18" charset="0"/>
            </a:endParaRPr>
          </a:p>
          <a:p>
            <a:r>
              <a:rPr lang="en-IN" sz="1300" dirty="0">
                <a:latin typeface="Cambria" panose="02040503050406030204" pitchFamily="18" charset="0"/>
                <a:ea typeface="Cambria" panose="02040503050406030204" pitchFamily="18" charset="0"/>
              </a:rPr>
              <a:t>Implements ML algorithms (Logistic Regression, Random Forest, XG Boost).</a:t>
            </a:r>
          </a:p>
          <a:p>
            <a:r>
              <a:rPr lang="en-IN" sz="1300" dirty="0">
                <a:latin typeface="Cambria" panose="02040503050406030204" pitchFamily="18" charset="0"/>
                <a:ea typeface="Cambria" panose="02040503050406030204" pitchFamily="18" charset="0"/>
              </a:rPr>
              <a:t>Applies feature engineering and hyperparameter tuning.</a:t>
            </a:r>
          </a:p>
          <a:p>
            <a:r>
              <a:rPr lang="en-IN" sz="1300" dirty="0">
                <a:latin typeface="Cambria" panose="02040503050406030204" pitchFamily="18" charset="0"/>
                <a:ea typeface="Cambria" panose="02040503050406030204" pitchFamily="18" charset="0"/>
              </a:rPr>
              <a:t>Handles imbalanced datasets using techniques like </a:t>
            </a:r>
            <a:r>
              <a:rPr lang="en-IN" sz="1300" b="1" dirty="0">
                <a:latin typeface="Cambria" panose="02040503050406030204" pitchFamily="18" charset="0"/>
                <a:ea typeface="Cambria" panose="02040503050406030204" pitchFamily="18" charset="0"/>
              </a:rPr>
              <a:t>SMOTE</a:t>
            </a:r>
            <a:r>
              <a:rPr lang="en-IN" sz="1300" dirty="0">
                <a:latin typeface="Cambria" panose="02040503050406030204" pitchFamily="18" charset="0"/>
                <a:ea typeface="Cambria" panose="02040503050406030204" pitchFamily="18" charset="0"/>
              </a:rPr>
              <a:t>.</a:t>
            </a:r>
          </a:p>
          <a:p>
            <a:r>
              <a:rPr lang="en-IN" sz="1300" dirty="0">
                <a:latin typeface="Cambria" panose="02040503050406030204" pitchFamily="18" charset="0"/>
                <a:ea typeface="Cambria" panose="02040503050406030204" pitchFamily="18" charset="0"/>
              </a:rPr>
              <a:t>Outputs student risk classification (Low, Medium, High).</a:t>
            </a:r>
          </a:p>
          <a:p>
            <a:pPr marL="76200" indent="0">
              <a:buNone/>
            </a:pPr>
            <a:endParaRPr lang="en-IN" sz="1300" dirty="0">
              <a:latin typeface="Cambria" panose="02040503050406030204" pitchFamily="18" charset="0"/>
              <a:ea typeface="Cambria" panose="02040503050406030204" pitchFamily="18" charset="0"/>
            </a:endParaRPr>
          </a:p>
          <a:p>
            <a:pPr marL="76200" indent="0">
              <a:buNone/>
            </a:pPr>
            <a:r>
              <a:rPr lang="en-US" sz="1300" b="1" dirty="0">
                <a:latin typeface="Cambria" panose="02040503050406030204" pitchFamily="18" charset="0"/>
                <a:ea typeface="Cambria" panose="02040503050406030204" pitchFamily="18" charset="0"/>
              </a:rPr>
              <a:t>Dashboard &amp; Visualization Module</a:t>
            </a:r>
          </a:p>
          <a:p>
            <a:pPr marL="76200" indent="0">
              <a:buNone/>
            </a:pPr>
            <a:endParaRPr lang="en-US" sz="1300" b="1" dirty="0">
              <a:latin typeface="Cambria" panose="02040503050406030204" pitchFamily="18" charset="0"/>
              <a:ea typeface="Cambria" panose="02040503050406030204" pitchFamily="18" charset="0"/>
            </a:endParaRPr>
          </a:p>
          <a:p>
            <a:r>
              <a:rPr lang="en-US" sz="1300" dirty="0">
                <a:latin typeface="Cambria" panose="02040503050406030204" pitchFamily="18" charset="0"/>
                <a:ea typeface="Cambria" panose="02040503050406030204" pitchFamily="18" charset="0"/>
              </a:rPr>
              <a:t>Provides an interactive interface using Flask/Stream lit.</a:t>
            </a:r>
          </a:p>
          <a:p>
            <a:r>
              <a:rPr lang="en-US" sz="1300" dirty="0">
                <a:latin typeface="Cambria" panose="02040503050406030204" pitchFamily="18" charset="0"/>
                <a:ea typeface="Cambria" panose="02040503050406030204" pitchFamily="18" charset="0"/>
              </a:rPr>
              <a:t>Displays prediction results, graphs, and insights.</a:t>
            </a:r>
          </a:p>
          <a:p>
            <a:r>
              <a:rPr lang="en-US" sz="1300" dirty="0">
                <a:latin typeface="Cambria" panose="02040503050406030204" pitchFamily="18" charset="0"/>
                <a:ea typeface="Cambria" panose="02040503050406030204" pitchFamily="18" charset="0"/>
              </a:rPr>
              <a:t>Allows educators to monitor </a:t>
            </a:r>
            <a:r>
              <a:rPr lang="en-US" sz="1300" b="1" dirty="0">
                <a:latin typeface="Cambria" panose="02040503050406030204" pitchFamily="18" charset="0"/>
                <a:ea typeface="Cambria" panose="02040503050406030204" pitchFamily="18" charset="0"/>
              </a:rPr>
              <a:t>at-risk students</a:t>
            </a:r>
            <a:r>
              <a:rPr lang="en-US" sz="1300" dirty="0">
                <a:latin typeface="Cambria" panose="02040503050406030204" pitchFamily="18" charset="0"/>
                <a:ea typeface="Cambria" panose="02040503050406030204" pitchFamily="18" charset="0"/>
              </a:rPr>
              <a:t>.</a:t>
            </a:r>
          </a:p>
          <a:p>
            <a:r>
              <a:rPr lang="en-US" sz="1300" dirty="0">
                <a:latin typeface="Cambria" panose="02040503050406030204" pitchFamily="18" charset="0"/>
                <a:ea typeface="Cambria" panose="02040503050406030204" pitchFamily="18" charset="0"/>
              </a:rPr>
              <a:t>Generates early warning alerts for interventions</a:t>
            </a:r>
          </a:p>
          <a:p>
            <a:endParaRPr lang="en-US" sz="1300" dirty="0">
              <a:latin typeface="Cambria" panose="02040503050406030204" pitchFamily="18" charset="0"/>
              <a:ea typeface="Cambria" panose="02040503050406030204" pitchFamily="18" charset="0"/>
            </a:endParaRPr>
          </a:p>
          <a:p>
            <a:pPr marL="76200" indent="0">
              <a:buNone/>
            </a:pPr>
            <a:r>
              <a:rPr lang="en-US" sz="1300" b="1" dirty="0">
                <a:latin typeface="Cambria" panose="02040503050406030204" pitchFamily="18" charset="0"/>
                <a:ea typeface="Cambria" panose="02040503050406030204" pitchFamily="18" charset="0"/>
              </a:rPr>
              <a:t>Evaluation &amp; Reporting Module</a:t>
            </a:r>
          </a:p>
          <a:p>
            <a:pPr marL="76200" indent="0">
              <a:buNone/>
            </a:pPr>
            <a:endParaRPr lang="en-US" sz="1300" b="1" dirty="0">
              <a:latin typeface="Cambria" panose="02040503050406030204" pitchFamily="18" charset="0"/>
              <a:ea typeface="Cambria" panose="02040503050406030204" pitchFamily="18" charset="0"/>
            </a:endParaRPr>
          </a:p>
          <a:p>
            <a:r>
              <a:rPr lang="en-US" sz="1300" dirty="0">
                <a:latin typeface="Cambria" panose="02040503050406030204" pitchFamily="18" charset="0"/>
                <a:ea typeface="Cambria" panose="02040503050406030204" pitchFamily="18" charset="0"/>
              </a:rPr>
              <a:t>Evaluates model performance using accuracy, precision, recall, and F1-score.</a:t>
            </a:r>
          </a:p>
          <a:p>
            <a:r>
              <a:rPr lang="en-US" sz="1300" dirty="0">
                <a:latin typeface="Cambria" panose="02040503050406030204" pitchFamily="18" charset="0"/>
                <a:ea typeface="Cambria" panose="02040503050406030204" pitchFamily="18" charset="0"/>
              </a:rPr>
              <a:t>Compares different ML models.</a:t>
            </a:r>
          </a:p>
          <a:p>
            <a:r>
              <a:rPr lang="en-US" sz="1300" dirty="0">
                <a:latin typeface="Cambria" panose="02040503050406030204" pitchFamily="18" charset="0"/>
                <a:ea typeface="Cambria" panose="02040503050406030204" pitchFamily="18" charset="0"/>
              </a:rPr>
              <a:t>Generates performance reports and recommendations.</a:t>
            </a:r>
          </a:p>
          <a:p>
            <a:endParaRPr lang="en-IN" sz="1300" dirty="0">
              <a:latin typeface="Cambria" panose="02040503050406030204" pitchFamily="18" charset="0"/>
              <a:ea typeface="Cambria" panose="02040503050406030204" pitchFamily="18" charset="0"/>
            </a:endParaRPr>
          </a:p>
          <a:p>
            <a:endParaRPr lang="en-IN" sz="13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62123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9761C-6C11-16D7-91C7-B8EB1A7BDC9C}"/>
              </a:ext>
            </a:extLst>
          </p:cNvPr>
          <p:cNvSpPr>
            <a:spLocks noGrp="1"/>
          </p:cNvSpPr>
          <p:nvPr>
            <p:ph type="title"/>
          </p:nvPr>
        </p:nvSpPr>
        <p:spPr/>
        <p:txBody>
          <a:bodyPr/>
          <a:lstStyle/>
          <a:p>
            <a:r>
              <a:rPr lang="en-IN" dirty="0"/>
              <a:t>Hardware Requirements</a:t>
            </a:r>
          </a:p>
        </p:txBody>
      </p:sp>
      <p:sp>
        <p:nvSpPr>
          <p:cNvPr id="3" name="Rectangle 1">
            <a:extLst>
              <a:ext uri="{FF2B5EF4-FFF2-40B4-BE49-F238E27FC236}">
                <a16:creationId xmlns:a16="http://schemas.microsoft.com/office/drawing/2014/main" id="{0C200596-A987-2C54-EC69-249D3DF0541E}"/>
              </a:ext>
            </a:extLst>
          </p:cNvPr>
          <p:cNvSpPr>
            <a:spLocks noGrp="1" noChangeArrowheads="1"/>
          </p:cNvSpPr>
          <p:nvPr>
            <p:ph type="body" idx="1"/>
          </p:nvPr>
        </p:nvSpPr>
        <p:spPr bwMode="auto">
          <a:xfrm>
            <a:off x="1077913" y="1430715"/>
            <a:ext cx="1022748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Processor</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 Intel Core i5 / AMD equivalent or higher</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RAM</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 Minimum 8 GB (16 GB recommended for ML training)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Storage</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 256 GB SSD or higher (for dataset storage and faster processing)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GPU (optional)</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 NVIDIA GPU (e.g., GTX 1650 or higher) – for faster model training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System</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Calibri" panose="020F0502020204030204" pitchFamily="34" charset="0"/>
              </a:rPr>
              <a:t>: Standard Desktop / Laptop, or Cloud-based VM (AWS, GCP, Azure)</a:t>
            </a:r>
          </a:p>
        </p:txBody>
      </p:sp>
    </p:spTree>
    <p:extLst>
      <p:ext uri="{BB962C8B-B14F-4D97-AF65-F5344CB8AC3E}">
        <p14:creationId xmlns:p14="http://schemas.microsoft.com/office/powerpoint/2010/main" val="749953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545C0-53FA-ABA2-D01F-AB32A27AAD9F}"/>
              </a:ext>
            </a:extLst>
          </p:cNvPr>
          <p:cNvSpPr>
            <a:spLocks noGrp="1"/>
          </p:cNvSpPr>
          <p:nvPr>
            <p:ph type="title"/>
          </p:nvPr>
        </p:nvSpPr>
        <p:spPr/>
        <p:txBody>
          <a:bodyPr/>
          <a:lstStyle/>
          <a:p>
            <a:r>
              <a:rPr lang="en-IN" dirty="0"/>
              <a:t>Software Requirements</a:t>
            </a:r>
          </a:p>
        </p:txBody>
      </p:sp>
      <p:sp>
        <p:nvSpPr>
          <p:cNvPr id="3" name="Text Placeholder 2">
            <a:extLst>
              <a:ext uri="{FF2B5EF4-FFF2-40B4-BE49-F238E27FC236}">
                <a16:creationId xmlns:a16="http://schemas.microsoft.com/office/drawing/2014/main" id="{1D1684F1-CA91-80E1-361D-57665FBCF80E}"/>
              </a:ext>
            </a:extLst>
          </p:cNvPr>
          <p:cNvSpPr>
            <a:spLocks noGrp="1"/>
          </p:cNvSpPr>
          <p:nvPr>
            <p:ph type="body" idx="1"/>
          </p:nvPr>
        </p:nvSpPr>
        <p:spPr>
          <a:xfrm>
            <a:off x="762000" y="867698"/>
            <a:ext cx="10668000" cy="4953000"/>
          </a:xfrm>
        </p:spPr>
        <p:txBody>
          <a:bodyPr>
            <a:noAutofit/>
          </a:bodyPr>
          <a:lstStyle/>
          <a:p>
            <a:pPr marL="76200" indent="0">
              <a:buNone/>
            </a:pPr>
            <a:endParaRPr lang="en-IN" sz="2000" b="1" dirty="0">
              <a:latin typeface="Cambria" panose="02040503050406030204" pitchFamily="18" charset="0"/>
              <a:ea typeface="Cambria" panose="02040503050406030204" pitchFamily="18" charset="0"/>
            </a:endParaRPr>
          </a:p>
          <a:p>
            <a:r>
              <a:rPr lang="en-IN" sz="2000" b="1" dirty="0">
                <a:latin typeface="Cambria" panose="02040503050406030204" pitchFamily="18" charset="0"/>
                <a:ea typeface="Cambria" panose="02040503050406030204" pitchFamily="18" charset="0"/>
              </a:rPr>
              <a:t>Operating System</a:t>
            </a:r>
            <a:r>
              <a:rPr lang="en-IN" sz="2000" dirty="0">
                <a:latin typeface="Cambria" panose="02040503050406030204" pitchFamily="18" charset="0"/>
                <a:ea typeface="Cambria" panose="02040503050406030204" pitchFamily="18" charset="0"/>
              </a:rPr>
              <a:t>: Windows 10 / Ubuntu 20.04 / macOS</a:t>
            </a:r>
          </a:p>
          <a:p>
            <a:r>
              <a:rPr lang="en-IN" sz="2000" b="1" dirty="0">
                <a:latin typeface="Cambria" panose="02040503050406030204" pitchFamily="18" charset="0"/>
                <a:ea typeface="Cambria" panose="02040503050406030204" pitchFamily="18" charset="0"/>
              </a:rPr>
              <a:t>Programming Language</a:t>
            </a:r>
            <a:r>
              <a:rPr lang="en-IN" sz="2000" dirty="0">
                <a:latin typeface="Cambria" panose="02040503050406030204" pitchFamily="18" charset="0"/>
                <a:ea typeface="Cambria" panose="02040503050406030204" pitchFamily="18" charset="0"/>
              </a:rPr>
              <a:t>: Python 3.8+</a:t>
            </a:r>
          </a:p>
          <a:p>
            <a:r>
              <a:rPr lang="en-IN" sz="2000" b="1" dirty="0">
                <a:latin typeface="Cambria" panose="02040503050406030204" pitchFamily="18" charset="0"/>
                <a:ea typeface="Cambria" panose="02040503050406030204" pitchFamily="18" charset="0"/>
              </a:rPr>
              <a:t>IDE / Tools</a:t>
            </a:r>
            <a:r>
              <a:rPr lang="en-IN" sz="2000" dirty="0">
                <a:latin typeface="Cambria" panose="02040503050406030204" pitchFamily="18" charset="0"/>
                <a:ea typeface="Cambria" panose="02040503050406030204" pitchFamily="18" charset="0"/>
              </a:rPr>
              <a:t>:</a:t>
            </a:r>
          </a:p>
          <a:p>
            <a:pPr lvl="1"/>
            <a:r>
              <a:rPr lang="en-IN" dirty="0" err="1">
                <a:latin typeface="Cambria" panose="02040503050406030204" pitchFamily="18" charset="0"/>
                <a:ea typeface="Cambria" panose="02040503050406030204" pitchFamily="18" charset="0"/>
              </a:rPr>
              <a:t>Jupyter</a:t>
            </a:r>
            <a:r>
              <a:rPr lang="en-IN" dirty="0">
                <a:latin typeface="Cambria" panose="02040503050406030204" pitchFamily="18" charset="0"/>
                <a:ea typeface="Cambria" panose="02040503050406030204" pitchFamily="18" charset="0"/>
              </a:rPr>
              <a:t> Notebook</a:t>
            </a:r>
          </a:p>
          <a:p>
            <a:pPr lvl="1"/>
            <a:r>
              <a:rPr lang="en-IN" dirty="0">
                <a:latin typeface="Cambria" panose="02040503050406030204" pitchFamily="18" charset="0"/>
                <a:ea typeface="Cambria" panose="02040503050406030204" pitchFamily="18" charset="0"/>
              </a:rPr>
              <a:t>VS Code / PyCharm</a:t>
            </a:r>
          </a:p>
          <a:p>
            <a:r>
              <a:rPr lang="en-IN" sz="2000" b="1" dirty="0">
                <a:latin typeface="Cambria" panose="02040503050406030204" pitchFamily="18" charset="0"/>
                <a:ea typeface="Cambria" panose="02040503050406030204" pitchFamily="18" charset="0"/>
              </a:rPr>
              <a:t>Libraries &amp; Frameworks</a:t>
            </a:r>
            <a:r>
              <a:rPr lang="en-IN" sz="2000" dirty="0">
                <a:latin typeface="Cambria" panose="02040503050406030204" pitchFamily="18" charset="0"/>
                <a:ea typeface="Cambria" panose="02040503050406030204" pitchFamily="18" charset="0"/>
              </a:rPr>
              <a:t>:</a:t>
            </a:r>
          </a:p>
          <a:p>
            <a:pPr lvl="1"/>
            <a:r>
              <a:rPr lang="en-IN" dirty="0">
                <a:latin typeface="Cambria" panose="02040503050406030204" pitchFamily="18" charset="0"/>
                <a:ea typeface="Cambria" panose="02040503050406030204" pitchFamily="18" charset="0"/>
              </a:rPr>
              <a:t>Data Handling → Pandas, NumPy</a:t>
            </a:r>
          </a:p>
          <a:p>
            <a:pPr lvl="1"/>
            <a:r>
              <a:rPr lang="en-IN" dirty="0">
                <a:latin typeface="Cambria" panose="02040503050406030204" pitchFamily="18" charset="0"/>
                <a:ea typeface="Cambria" panose="02040503050406030204" pitchFamily="18" charset="0"/>
              </a:rPr>
              <a:t>Visualization → Matplotlib, Seaborn</a:t>
            </a:r>
          </a:p>
          <a:p>
            <a:pPr lvl="1"/>
            <a:r>
              <a:rPr lang="en-IN" dirty="0">
                <a:latin typeface="Cambria" panose="02040503050406030204" pitchFamily="18" charset="0"/>
                <a:ea typeface="Cambria" panose="02040503050406030204" pitchFamily="18" charset="0"/>
              </a:rPr>
              <a:t>Machine Learning → Scikit-learn, XG Boost</a:t>
            </a:r>
          </a:p>
          <a:p>
            <a:pPr lvl="1"/>
            <a:r>
              <a:rPr lang="en-IN" dirty="0">
                <a:latin typeface="Cambria" panose="02040503050406030204" pitchFamily="18" charset="0"/>
                <a:ea typeface="Cambria" panose="02040503050406030204" pitchFamily="18" charset="0"/>
              </a:rPr>
              <a:t>Data Imbalance Handling → imbalanced-learn (SMOTE)</a:t>
            </a:r>
          </a:p>
          <a:p>
            <a:r>
              <a:rPr lang="en-IN" sz="2000" b="1" dirty="0">
                <a:latin typeface="Cambria" panose="02040503050406030204" pitchFamily="18" charset="0"/>
                <a:ea typeface="Cambria" panose="02040503050406030204" pitchFamily="18" charset="0"/>
              </a:rPr>
              <a:t>Database</a:t>
            </a:r>
            <a:r>
              <a:rPr lang="en-IN" sz="2000" dirty="0">
                <a:latin typeface="Cambria" panose="02040503050406030204" pitchFamily="18" charset="0"/>
                <a:ea typeface="Cambria" panose="02040503050406030204" pitchFamily="18" charset="0"/>
              </a:rPr>
              <a:t>: MySQL / SQLite</a:t>
            </a:r>
          </a:p>
          <a:p>
            <a:r>
              <a:rPr lang="en-IN" sz="2000" b="1" dirty="0">
                <a:latin typeface="Cambria" panose="02040503050406030204" pitchFamily="18" charset="0"/>
                <a:ea typeface="Cambria" panose="02040503050406030204" pitchFamily="18" charset="0"/>
              </a:rPr>
              <a:t>Deployment Framework</a:t>
            </a:r>
            <a:r>
              <a:rPr lang="en-IN" sz="2000" dirty="0">
                <a:latin typeface="Cambria" panose="02040503050406030204" pitchFamily="18" charset="0"/>
                <a:ea typeface="Cambria" panose="02040503050406030204" pitchFamily="18" charset="0"/>
              </a:rPr>
              <a:t>: Flask / Stream lit</a:t>
            </a:r>
          </a:p>
          <a:p>
            <a:r>
              <a:rPr lang="en-IN" sz="2000" b="1" dirty="0">
                <a:latin typeface="Cambria" panose="02040503050406030204" pitchFamily="18" charset="0"/>
                <a:ea typeface="Cambria" panose="02040503050406030204" pitchFamily="18" charset="0"/>
              </a:rPr>
              <a:t>Version Control</a:t>
            </a:r>
            <a:r>
              <a:rPr lang="en-IN" sz="2000" dirty="0">
                <a:latin typeface="Cambria" panose="02040503050406030204" pitchFamily="18" charset="0"/>
                <a:ea typeface="Cambria" panose="02040503050406030204" pitchFamily="18" charset="0"/>
              </a:rPr>
              <a:t>: GitHub</a:t>
            </a:r>
          </a:p>
          <a:p>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00772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2B5B4-7D22-3914-43DC-4F1B0B4AC50C}"/>
              </a:ext>
            </a:extLst>
          </p:cNvPr>
          <p:cNvSpPr>
            <a:spLocks noGrp="1"/>
          </p:cNvSpPr>
          <p:nvPr>
            <p:ph type="title"/>
          </p:nvPr>
        </p:nvSpPr>
        <p:spPr/>
        <p:txBody>
          <a:bodyPr/>
          <a:lstStyle/>
          <a:p>
            <a:r>
              <a:rPr lang="en-IN" dirty="0"/>
              <a:t>Timeline (Gantt Chart)</a:t>
            </a:r>
          </a:p>
        </p:txBody>
      </p:sp>
      <p:sp>
        <p:nvSpPr>
          <p:cNvPr id="3" name="Text Placeholder 2">
            <a:extLst>
              <a:ext uri="{FF2B5EF4-FFF2-40B4-BE49-F238E27FC236}">
                <a16:creationId xmlns:a16="http://schemas.microsoft.com/office/drawing/2014/main" id="{34B5B9F8-6883-8686-82C6-E2734EE38062}"/>
              </a:ext>
            </a:extLst>
          </p:cNvPr>
          <p:cNvSpPr>
            <a:spLocks noGrp="1"/>
          </p:cNvSpPr>
          <p:nvPr>
            <p:ph type="body" idx="1"/>
          </p:nvPr>
        </p:nvSpPr>
        <p:spPr>
          <a:xfrm>
            <a:off x="812800" y="1143001"/>
            <a:ext cx="10668000" cy="4844850"/>
          </a:xfrm>
        </p:spPr>
        <p:txBody>
          <a:bodyPr/>
          <a:lstStyle/>
          <a:p>
            <a:pPr marL="76200" indent="0">
              <a:buNone/>
            </a:pPr>
            <a:endParaRPr lang="en-IN" dirty="0"/>
          </a:p>
        </p:txBody>
      </p:sp>
      <p:pic>
        <p:nvPicPr>
          <p:cNvPr id="5" name="Picture 4">
            <a:extLst>
              <a:ext uri="{FF2B5EF4-FFF2-40B4-BE49-F238E27FC236}">
                <a16:creationId xmlns:a16="http://schemas.microsoft.com/office/drawing/2014/main" id="{2E7A9352-EA8B-76F6-2685-77AC9671A075}"/>
              </a:ext>
            </a:extLst>
          </p:cNvPr>
          <p:cNvPicPr>
            <a:picLocks noChangeAspect="1"/>
          </p:cNvPicPr>
          <p:nvPr/>
        </p:nvPicPr>
        <p:blipFill>
          <a:blip r:embed="rId2"/>
          <a:stretch>
            <a:fillRect/>
          </a:stretch>
        </p:blipFill>
        <p:spPr>
          <a:xfrm>
            <a:off x="812800" y="1143001"/>
            <a:ext cx="9075183" cy="4844850"/>
          </a:xfrm>
          <a:prstGeom prst="rect">
            <a:avLst/>
          </a:prstGeom>
        </p:spPr>
      </p:pic>
    </p:spTree>
    <p:extLst>
      <p:ext uri="{BB962C8B-B14F-4D97-AF65-F5344CB8AC3E}">
        <p14:creationId xmlns:p14="http://schemas.microsoft.com/office/powerpoint/2010/main" val="4120323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563F3-DBDA-0CA7-C64C-C3C366BB2426}"/>
              </a:ext>
            </a:extLst>
          </p:cNvPr>
          <p:cNvSpPr>
            <a:spLocks noGrp="1"/>
          </p:cNvSpPr>
          <p:nvPr>
            <p:ph type="title"/>
          </p:nvPr>
        </p:nvSpPr>
        <p:spPr/>
        <p:txBody>
          <a:bodyPr/>
          <a:lstStyle/>
          <a:p>
            <a:r>
              <a:rPr lang="en-IN" dirty="0"/>
              <a:t>References</a:t>
            </a:r>
          </a:p>
        </p:txBody>
      </p:sp>
      <p:sp>
        <p:nvSpPr>
          <p:cNvPr id="3" name="Text Placeholder 2">
            <a:extLst>
              <a:ext uri="{FF2B5EF4-FFF2-40B4-BE49-F238E27FC236}">
                <a16:creationId xmlns:a16="http://schemas.microsoft.com/office/drawing/2014/main" id="{16DFE05B-FD93-2E2C-0A58-8734510065D2}"/>
              </a:ext>
            </a:extLst>
          </p:cNvPr>
          <p:cNvSpPr>
            <a:spLocks noGrp="1"/>
          </p:cNvSpPr>
          <p:nvPr>
            <p:ph type="body" idx="1"/>
          </p:nvPr>
        </p:nvSpPr>
        <p:spPr>
          <a:xfrm>
            <a:off x="812800" y="762138"/>
            <a:ext cx="10668000" cy="4953000"/>
          </a:xfrm>
        </p:spPr>
        <p:txBody>
          <a:bodyPr>
            <a:noAutofit/>
          </a:bodyPr>
          <a:lstStyle/>
          <a:p>
            <a:pPr marL="76200" indent="0">
              <a:buNone/>
            </a:pPr>
            <a:endParaRPr lang="da-DK" sz="2500" dirty="0">
              <a:latin typeface="Cambria" panose="02040503050406030204" pitchFamily="18" charset="0"/>
              <a:ea typeface="Cambria" panose="02040503050406030204" pitchFamily="18" charset="0"/>
            </a:endParaRPr>
          </a:p>
          <a:p>
            <a:r>
              <a:rPr lang="da-DK" sz="2500" dirty="0">
                <a:latin typeface="Cambria" panose="02040503050406030204" pitchFamily="18" charset="0"/>
                <a:ea typeface="Cambria" panose="02040503050406030204" pitchFamily="18" charset="0"/>
              </a:rPr>
              <a:t>Psyridou et al., 2024</a:t>
            </a:r>
          </a:p>
          <a:p>
            <a:r>
              <a:rPr lang="da-DK" sz="2500" dirty="0">
                <a:latin typeface="Cambria" panose="02040503050406030204" pitchFamily="18" charset="0"/>
                <a:ea typeface="Cambria" panose="02040503050406030204" pitchFamily="18" charset="0"/>
              </a:rPr>
              <a:t>Christie &amp; Jarratt, 2019</a:t>
            </a:r>
          </a:p>
          <a:p>
            <a:r>
              <a:rPr lang="da-DK" sz="2500" dirty="0">
                <a:latin typeface="Cambria" panose="02040503050406030204" pitchFamily="18" charset="0"/>
                <a:ea typeface="Cambria" panose="02040503050406030204" pitchFamily="18" charset="0"/>
              </a:rPr>
              <a:t>Lee et al., 2019</a:t>
            </a:r>
          </a:p>
          <a:p>
            <a:r>
              <a:rPr lang="da-DK" sz="2500" dirty="0">
                <a:latin typeface="Cambria" panose="02040503050406030204" pitchFamily="18" charset="0"/>
                <a:ea typeface="Cambria" panose="02040503050406030204" pitchFamily="18" charset="0"/>
              </a:rPr>
              <a:t>Uekawa et al., 2010</a:t>
            </a:r>
          </a:p>
          <a:p>
            <a:r>
              <a:rPr lang="da-DK" sz="2500" dirty="0">
                <a:latin typeface="Cambria" panose="02040503050406030204" pitchFamily="18" charset="0"/>
                <a:ea typeface="Cambria" panose="02040503050406030204" pitchFamily="18" charset="0"/>
              </a:rPr>
              <a:t>Bulut, 2024</a:t>
            </a:r>
          </a:p>
          <a:p>
            <a:r>
              <a:rPr lang="da-DK" sz="2500" dirty="0">
                <a:latin typeface="Cambria" panose="02040503050406030204" pitchFamily="18" charset="0"/>
                <a:ea typeface="Cambria" panose="02040503050406030204" pitchFamily="18" charset="0"/>
              </a:rPr>
              <a:t>de Vasconcelos et al., 2023</a:t>
            </a:r>
          </a:p>
          <a:p>
            <a:r>
              <a:rPr lang="da-DK" sz="2500" dirty="0">
                <a:latin typeface="Cambria" panose="02040503050406030204" pitchFamily="18" charset="0"/>
                <a:ea typeface="Cambria" panose="02040503050406030204" pitchFamily="18" charset="0"/>
              </a:rPr>
              <a:t>Vaarma et al., 2024</a:t>
            </a:r>
          </a:p>
          <a:p>
            <a:r>
              <a:rPr lang="da-DK" sz="2500" dirty="0">
                <a:latin typeface="Cambria" panose="02040503050406030204" pitchFamily="18" charset="0"/>
                <a:ea typeface="Cambria" panose="02040503050406030204" pitchFamily="18" charset="0"/>
              </a:rPr>
              <a:t>Venkatesan et al., 2023</a:t>
            </a:r>
          </a:p>
          <a:p>
            <a:r>
              <a:rPr lang="da-DK" sz="2500" dirty="0">
                <a:latin typeface="Cambria" panose="02040503050406030204" pitchFamily="18" charset="0"/>
                <a:ea typeface="Cambria" panose="02040503050406030204" pitchFamily="18" charset="0"/>
              </a:rPr>
              <a:t>Hassan et al., 2024</a:t>
            </a:r>
          </a:p>
          <a:p>
            <a:r>
              <a:rPr lang="da-DK" sz="2500" dirty="0">
                <a:latin typeface="Cambria" panose="02040503050406030204" pitchFamily="18" charset="0"/>
                <a:ea typeface="Cambria" panose="02040503050406030204" pitchFamily="18" charset="0"/>
              </a:rPr>
              <a:t>Elbouknify et al., 2025</a:t>
            </a:r>
          </a:p>
          <a:p>
            <a:endParaRPr lang="en-IN" sz="25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78887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299</TotalTime>
  <Words>1520</Words>
  <Application>Microsoft Office PowerPoint</Application>
  <PresentationFormat>Widescreen</PresentationFormat>
  <Paragraphs>207</Paragraphs>
  <Slides>17</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Cambria</vt:lpstr>
      <vt:lpstr>Verdana</vt:lpstr>
      <vt:lpstr>Wingdings</vt:lpstr>
      <vt:lpstr>Bioinformatics</vt:lpstr>
      <vt:lpstr>Student Dropout Analysis For School Education</vt:lpstr>
      <vt:lpstr>Content</vt:lpstr>
      <vt:lpstr>Abstract</vt:lpstr>
      <vt:lpstr>Literature Survey</vt:lpstr>
      <vt:lpstr>Objectives</vt:lpstr>
      <vt:lpstr>Existing Methods</vt:lpstr>
      <vt:lpstr>Drawbacks of Existing Methods</vt:lpstr>
      <vt:lpstr>Proposed Method</vt:lpstr>
      <vt:lpstr>Feasibility Study</vt:lpstr>
      <vt:lpstr>Architecture Diagram</vt:lpstr>
      <vt:lpstr>Modules</vt:lpstr>
      <vt:lpstr>PowerPoint Presentation</vt:lpstr>
      <vt:lpstr>Hardware Requirements</vt:lpstr>
      <vt:lpstr>Software Requirements</vt:lpstr>
      <vt:lpstr>Timeline (Gantt Chart)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JEEVAN M B</cp:lastModifiedBy>
  <cp:revision>78</cp:revision>
  <dcterms:modified xsi:type="dcterms:W3CDTF">2025-09-07T16:27:17Z</dcterms:modified>
</cp:coreProperties>
</file>